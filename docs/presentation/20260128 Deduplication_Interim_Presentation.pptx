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50" d="100"/>
          <a:sy n="250" d="100"/>
        </p:scale>
        <p:origin x="192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EDR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U0</c:v>
                </c:pt>
                <c:pt idx="1">
                  <c:v>U50</c:v>
                </c:pt>
                <c:pt idx="2">
                  <c:v>U90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1.05</c:v>
                </c:pt>
                <c:pt idx="2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D2-4EE5-BC52-24E81313E0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670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ESA Hubble Ultra Deep Field image (background): https://www.esa.int/ESA_Multimedia/Images/2005/09/Hubble_s_ACS_close-up_view_of_Hubble_Ultra_Deep_Field (download link used)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Dedup definition baseline (SNIA): https://www.snia.org/sites/default/files/Understanding_Data_Deduplication_Ratios-20080718.pdf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SNIA definition of deduplication (sub-file level, unique data only): https://www.snia.org/sites/default/files/Understanding_Data_Deduplication_Ratios-20080718.pdf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SNIA on sub-file dedup vs. SIS: https://www.snia.org/sites/default/files/Understanding_Data_Deduplication_Ratios-20080718.pdf
- SNIA overview of SIS + fixed/variable block strategies: https://www.snia.org/educational-library/single-instance-strategies-storage-2007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LBFS (2001): https://www.cis.upenn.edu/~bcpierce/courses/dd/papers/lbfs.pdf
- Venti (FAST 2002): https://www.usenix.org/conference/fast-02/venti-new-approach-archival-data-storage
- Data Domain DDFS (FAST 2008): https://www.usenix.org/conference/fast-08/avoiding-disk-bottleneck-data-domain-deduplication-file-system
- Sparse Indexing (FAST 2009): https://www.usenix.org/event/fast09/tech/full_papers/lillibridge/lillibridge.pdf
- iDedup (FAST 2012): https://www.usenix.org/system/files/conference/fast12/srinivasan.pdf
- FastCDC (ATC 2016): https://www.usenix.org/system/files/conference/atc16/atc16-paper-xia.pdf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Longhorn concepts (synchronous replication across replicas/nodes): https://longhorn.io/docs/latest/concepts/
- Longhorn metric longhorn_volume_actual_size_bytes: https://longhorn.io/docs/latest/monitoring/metrics/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Longhorn replication across multiple replicas on multiple nodes: https://longhorn.io/docs/latest/concepts/
- Longhorn metric longhorn_volume_actual_size_bytes (actual space used by each replica): https://longhorn.io/docs/latest/monitoring/metrics/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ClickHouse academic overview / paper reference: https://clickhouse.com/docs/academic_overview
- CockroachDB SIGMOD paper: https://dl.acm.org/doi/10.1145/3318464.3386134
- Kafka topic config cleanup.policy (delete/compact): https://kafka.apache.org/30/generated/topic_config.html
- Confluent explanation of cleanup.policy and compaction: https://docs.confluent.io/platform/current/installation/configuration/topic-configs.html
- MinIO statement on not implementing deduplication: https://blog.min.io/myths-about-deduplication-and-compression/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NASA media usage guidelines (reuse): https://www.nasa.gov/nasa-brand-center/images-and-media/
- Hubble Ultra Deep Field image page (ESA): https://www.esa.int/ESA_Multimedia/Images/2005/09/Hubble_s_ACS_close-up_view_of_Hubble_Ultra_Deep_Field
- Big Buck Bunny poster (Wikimedia Commons / Blender Foundation, CC BY): https://upload.wikimedia.org/wikipedia/commons/thumb/c/c5/Big_buck_bunny_poster_big.jpg/1200px-Big_buck_bunny_poster_big.jpg
- Big Buck Bunny licensing info (Commons): https://commons.wikimedia.org/wiki/Big_Buck_Bunny
- Project Gutenberg license/terms: https://www.gutenberg.org/policy/license.html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Longhorn metrics (actual size per replica): https://longhorn.io/docs/latest/monitoring/metrics/
- Kafka topic cleanup.policy (delete vs compact): https://kafka.apache.org/30/generated/topic_config.html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Longhorn metric definition (actual size per replica): https://longhorn.io/docs/latest/monitoring/metrics/
- Longhorn replication concept (replicas on nodes): https://longhorn.io/docs/latest/concepts/
- PostgreSQL VACUUM FULL concept (official docs entry point): https://www.postgresql.org/docs/current/sql-vacuum.html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Kafka cleanup.policy definition (delete vs compact): https://kafka.apache.org/30/generated/topic_config.html
- MinIO “no deduplication” rationale: https://blog.min.io/myths-about-deduplication-and-compression/
- Longhorn concepts (replication, volume behavior): https://longhorn.io/docs/latest/concepts/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mg_hudf.jpg"/>
          <p:cNvPicPr>
            <a:picLocks noChangeAspect="1"/>
          </p:cNvPicPr>
          <p:nvPr/>
        </p:nvPicPr>
        <p:blipFill>
          <a:blip r:embed="rId3">
            <a:alphaModFix amt="82000"/>
          </a:blip>
          <a:srcRect l="8447" r="8447"/>
          <a:stretch/>
        </p:blipFill>
        <p:spPr>
          <a:xfrm>
            <a:off x="6492240" y="0"/>
            <a:ext cx="56994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640080" y="18745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in Data Storage Systems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58368" y="26974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interim presentation — core concept &amp; experiment plan (Kubernetes/Longhorn)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8368" y="31546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· Diplom Informatik (PO 2010) · Analysis of a Research Topic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" y="37947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Benjamin-Elias Probst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194767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deduplication at the core?”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5532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operationalize the definition into measurable storage effects: Do byte-identical payloads lead to sub-linear physical storage growth, and where (DB vs. storage layer) does that effect originate?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661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structure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977640"/>
            <a:ext cx="6126480" cy="167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definition + boundaries vs. compression / SIS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&amp; key milestones (why it works / where it breaks)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 on Kubernetes + Longhorn (replica=4)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Workloads, datasets, and metrics (ingest, physical size, reclamation)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observations + next steps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0" y="1097280"/>
            <a:ext cx="5074920" cy="5440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086600" y="1325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evolution (last 3 drafts)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8040" y="1737360"/>
            <a:ext cx="4572000" cy="1092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A: theory + taxonomy (dedup vs. compression)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B: cleaned English version + consistent citations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 (current): adds reproducible experiment plan and measurement model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Core concept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(core): store/transmit only unique chunks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detect byte-identical segments and replace repeats with references (sub-file level).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3383280" cy="3566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68680" y="24963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971800"/>
            <a:ext cx="2743200" cy="411480"/>
          </a:xfrm>
          <a:prstGeom prst="roundRect">
            <a:avLst/>
          </a:prstGeom>
          <a:solidFill>
            <a:srgbClr val="93C5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005840" y="3044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3474720"/>
            <a:ext cx="2743200" cy="411480"/>
          </a:xfrm>
          <a:prstGeom prst="roundRect">
            <a:avLst/>
          </a:prstGeom>
          <a:solidFill>
            <a:srgbClr val="FCA5A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005840" y="3547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3977640"/>
            <a:ext cx="2743200" cy="411480"/>
          </a:xfrm>
          <a:prstGeom prst="roundRect">
            <a:avLst/>
          </a:prstGeom>
          <a:solidFill>
            <a:srgbClr val="FCA5A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05840" y="4050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05840" y="4480560"/>
            <a:ext cx="2743200" cy="41148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1005840" y="4553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5840" y="4983480"/>
            <a:ext cx="2743200" cy="411480"/>
          </a:xfrm>
          <a:prstGeom prst="roundRect">
            <a:avLst/>
          </a:prstGeom>
          <a:solidFill>
            <a:srgbClr val="FCA5A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005840" y="5056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2560320"/>
            <a:ext cx="2788920" cy="13258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663440" y="278892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+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4160520"/>
            <a:ext cx="278892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663440" y="431596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→ location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46320" y="5074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hash already exists → store reference only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18120" y="2560320"/>
            <a:ext cx="4297680" cy="3108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7818120" y="27249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store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38160" y="3246120"/>
            <a:ext cx="1097280" cy="502920"/>
          </a:xfrm>
          <a:prstGeom prst="roundRect">
            <a:avLst/>
          </a:prstGeom>
          <a:solidFill>
            <a:srgbClr val="93C5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8138160" y="3355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372600" y="3246120"/>
            <a:ext cx="1097280" cy="502920"/>
          </a:xfrm>
          <a:prstGeom prst="roundRect">
            <a:avLst/>
          </a:prstGeom>
          <a:solidFill>
            <a:srgbClr val="FCA5A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9372600" y="3355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607040" y="3246120"/>
            <a:ext cx="1097280" cy="50292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10607040" y="3355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01000" y="39776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“B” blocks become references → physical growth slows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duplicates dominate (if dedup is present).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187952" y="3337560"/>
            <a:ext cx="384048" cy="45720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7516368" y="3337560"/>
            <a:ext cx="256032" cy="45720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Taxonomy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“deduplication” mean in practice?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 — different design points. Our experiments must separate these dimensions.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3611880" cy="1783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31520" y="24963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(SIS) vs block/chunk-level; content-defined chunking helps with shifted inserts.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331720"/>
            <a:ext cx="3611880" cy="1783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617720" y="24963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8346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(write-path) vs post-process (background). Trade latency vs. space.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75320" y="2331720"/>
            <a:ext cx="3611880" cy="1783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8503920" y="24963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28346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Source-side vs target-side; also DB layer vs storage layer.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389120"/>
            <a:ext cx="3611880" cy="1783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31520" y="45537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index vs sparse / sampled index; locality-aware caching.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4389120"/>
            <a:ext cx="3611880" cy="1783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617720" y="45537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fit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48920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(high redundancy) vs primary workloads (latency, fragmentation constraints).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75320" y="4389120"/>
            <a:ext cx="3611880" cy="1783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8503920" y="45537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03920" y="48920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 reduces dedup effectiveness; global dedup can create side-channels.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Why it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that shaped modern deduplication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lineage: similarity detection → content-addressing → high-throughput indexing → primary-storage constraints.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063240"/>
            <a:ext cx="103327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1188720" y="2898648"/>
            <a:ext cx="292608" cy="29260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868680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35024" y="2898648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11480" y="2057400"/>
            <a:ext cx="15544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38912" y="2121408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LBFS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(similarity, chunking)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17520" y="2898648"/>
            <a:ext cx="292608" cy="29260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2697480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63824" y="3191256"/>
            <a:ext cx="0" cy="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2240280" y="3246120"/>
            <a:ext cx="15544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2267712" y="3310128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(content-addressed)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0640" y="2898648"/>
            <a:ext cx="292608" cy="29260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800600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66944" y="2898648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4343400" y="2057400"/>
            <a:ext cx="15544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370832" y="2121408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DDFS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(avoid disk bottleneck)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0" y="2898648"/>
            <a:ext cx="292608" cy="29260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6537960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04304" y="3191256"/>
            <a:ext cx="0" cy="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6080760" y="3246120"/>
            <a:ext cx="15544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6108192" y="3310128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Indexing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(sample + locality)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595360" y="2898648"/>
            <a:ext cx="292608" cy="29260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8275320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41664" y="2898648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7818120" y="2057400"/>
            <a:ext cx="15544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7845552" y="2121408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iDedup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(primary-storage safe)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149840" y="2898648"/>
            <a:ext cx="292608" cy="29260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9829800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296144" y="3191256"/>
            <a:ext cx="0" cy="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9372600" y="3246120"/>
            <a:ext cx="15544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9400032" y="3310128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FastCDC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(faster CDC)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489204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achieving dedup at scale is an indexing + locality problem; primary workloads add fragmentation/latency constraints.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Where to measure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deduplication actually occur?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measurement distinguishes “logical bytes” (reported by the system) from “physical bytes” (Longhorn replicas).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377440"/>
            <a:ext cx="530352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280160" y="24871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client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97280" y="2971800"/>
            <a:ext cx="5303520" cy="594360"/>
          </a:xfrm>
          <a:prstGeom prst="rect">
            <a:avLst/>
          </a:prstGeom>
          <a:solidFill>
            <a:srgbClr val="E0E7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280160" y="308152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(PostgreSQL, MariaDB, ClickHouse, CockroachDB)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3566160"/>
            <a:ext cx="5303520" cy="59436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280160" y="36758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/ object systems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(Kafka, MinIO)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97280" y="4160520"/>
            <a:ext cx="5303520" cy="594360"/>
          </a:xfrm>
          <a:prstGeom prst="rect">
            <a:avLst/>
          </a:prstGeom>
          <a:solidFill>
            <a:srgbClr val="ECFCC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280160" y="42702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inside container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97280" y="4754880"/>
            <a:ext cx="530352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1280160" y="48646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 layer (Longhorn)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97280" y="5349240"/>
            <a:ext cx="530352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280160" y="54589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disks (4 workers)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49440" y="2606040"/>
            <a:ext cx="548640" cy="2651760"/>
          </a:xfrm>
          <a:prstGeom prst="downArrow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589520" y="2514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both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35240" y="2926080"/>
            <a:ext cx="4389120" cy="12966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size (DB/table/topic/bucket counters)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size (Longhorn “actual size” per replica)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factor N=4 → normalize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deletes: run compaction/vacuum + discard/TRIM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setup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Testbed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testbed (Kubernetes + Longhorn)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worker nodes · Longhorn StorageClass · per-system PVC = 100 GiB · replica count N=4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2651760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02920" y="2441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20116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22960" y="2944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201168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Longhorn replica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331720"/>
            <a:ext cx="2651760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383280" y="2441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03320" y="2834640"/>
            <a:ext cx="20116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703320" y="2944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Pod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03320" y="3429000"/>
            <a:ext cx="201168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3703320" y="3474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Longhorn replica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331720"/>
            <a:ext cx="2651760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263640" y="2441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2834640"/>
            <a:ext cx="20116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583680" y="2944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Pod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3429000"/>
            <a:ext cx="201168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6583680" y="3474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Longhorn replica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0" y="2331720"/>
            <a:ext cx="2651760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9144000" y="2441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64040" y="2834640"/>
            <a:ext cx="20116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9464040" y="2944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Pod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464040" y="3429000"/>
            <a:ext cx="201168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9464040" y="3474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Longhorn replica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4526280"/>
            <a:ext cx="11338560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868680" y="46817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database gets a dedicated Longhorn volume: 100 GiB PVC, replicated synchronously to 4 nodes (N=4).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under test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compare “classic SQL”, streaming, and object storage behaviors under identical duplication workloads.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5669280" cy="3566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31520" y="249631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52120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(row-store SQL)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(row-store SQL; compression options)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(column-store OLAP; heavy compression)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(distributed SQL; replication at DB layer)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2331720"/>
            <a:ext cx="5833872" cy="3566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583680" y="2496312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/ Object storage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834640"/>
            <a:ext cx="5376672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(log segments; delete vs compact policy)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 object store; explicitly no dedup by design)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Redcomponent-DB (new system — empirical baseline)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Workloads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datasets &amp; payload types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payloads that can be duplicated byte-identically to isolate deduplication from compression.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6492240" cy="4480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31520" y="240487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families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60350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(SQL-friendly)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timestamps (monotonic)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numerics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strings / VARCHAR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UUID (high entropy)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JSON/JSONB (semi-structured)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objects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Images (NASA)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Video (Blender Open Movies)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text (Project Gutenberg)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available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logs · bank transactions · synthetic random numbers</a:t>
            </a:r>
            <a:endParaRPr lang="en-US" sz="1200" dirty="0"/>
          </a:p>
        </p:txBody>
      </p:sp>
      <p:pic>
        <p:nvPicPr>
          <p:cNvPr id="12" name="Image 0" descr="/mnt/data/img_hudf.jpg"/>
          <p:cNvPicPr>
            <a:picLocks noChangeAspect="1"/>
          </p:cNvPicPr>
          <p:nvPr/>
        </p:nvPicPr>
        <p:blipFill>
          <a:blip r:embed="rId3"/>
          <a:srcRect t="27901" b="27901"/>
          <a:stretch/>
        </p:blipFill>
        <p:spPr>
          <a:xfrm>
            <a:off x="7223760" y="2240280"/>
            <a:ext cx="4965192" cy="21945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223760" y="4443984"/>
            <a:ext cx="49651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imagery (example)</a:t>
            </a:r>
            <a:endParaRPr lang="en-US" sz="1100" dirty="0"/>
          </a:p>
        </p:txBody>
      </p:sp>
      <p:pic>
        <p:nvPicPr>
          <p:cNvPr id="14" name="Image 1" descr="/mnt/data/img_bb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0137" y="4617720"/>
            <a:ext cx="1292438" cy="1828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6510528"/>
            <a:ext cx="4965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movie (example)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Procedure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procedure (what we will run)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 × three duplication levels (U0/U50/U90) × payload families × systems.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097280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14400" y="2432304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levels:  U0 (unique)  ·  U50 (50% duplicates)  ·  U90 (90% duplicates)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3246120" cy="2103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load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“Natural” schema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COPY/LOAD, producer, S3 put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T_bulk + Longhorn size 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26280" y="3154680"/>
            <a:ext cx="3246120" cy="2103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526280" y="33375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 insert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402336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= one row/object/message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latency + throughput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EDR (logical vs physical)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66760" y="3154680"/>
            <a:ext cx="3246120" cy="2103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366760" y="33375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 delete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95360" y="402336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one by one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maintenance: vacuum/compaction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size reclamation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023360" y="3886200"/>
            <a:ext cx="411480" cy="45720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7863840" y="3886200"/>
            <a:ext cx="411480" cy="45720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502920" y="5532120"/>
            <a:ext cx="1152144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731520" y="56967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captured at each step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6035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time / throughput · logical bytes written · Longhorn “actual size” per replica · normalized physical bytes (÷N) · effective dedup ratio (EDR) · post-delete reclamation time/amount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Metrics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quantify deduplication vs. “just compression”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normalize the Longhorn replica footprint and compare it to logical bytes written.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5715000" cy="19659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31520" y="249631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(EDR)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5257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= B_logical / (B_phys / N)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B_logical = sum(payload bytes)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B_phys = Longhorn actual size (sum over replicas)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replica count (=4)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EDR ≈ 1 → no dedup (beyond replication/compression). EDR &gt; 1 → storage-layer reuse of identical content.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480560"/>
            <a:ext cx="5715000" cy="2057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31520" y="464515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post-delete note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983480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 does not automatically shrink on deletes. After Stage 3, we must trigger: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 maintenance (VACUUM FULL / OPTIMIZE / compaction)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filesystem discard/TRIM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…otherwise physical size may not reflect reclaimed free space.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3317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expectation (not measured yet)</a:t>
            </a:r>
            <a:endParaRPr lang="en-US" sz="14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492240" y="2697480"/>
          <a:ext cx="5669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6492240" y="521208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dedup is present: EDR increases with duplication.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only compression: EDR stays ~flat across U0/U50/U90.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Next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conclusions &amp; next steps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1686032" cy="18745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11228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be able to answer empirically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112288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Is there any dedup effect in the tested stacks, and at which layer?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How does duplication level (U0/U50/U90) change physical growth and ingest throughput?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How do deletes behave (space reclamation latency + amount)?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206240"/>
            <a:ext cx="5669280" cy="2194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31520" y="43708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 (this week)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709160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Finalize dataset list + fixed IDs/URLs (NASA, Blender, Gutenberg)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loaders for each system (bulk + per-file)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common measurement harness (timestamps + Longhorn metrics snapshot)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Dry run on one DB (PostgreSQL) to validate the pipeline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4206240"/>
            <a:ext cx="5833872" cy="2194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583680" y="4370832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/ controls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4709160"/>
            <a:ext cx="537667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may not shrink after deletes without compaction/TRIM (control step mandatory).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Kafka “delete vs compact” changes semantics — treat as separate configs.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MinIO explicitly does not implement dedup → baseline for “no dedup”.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1168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2449</Words>
  <Application>Microsoft Office PowerPoint</Application>
  <PresentationFormat>Breitbild</PresentationFormat>
  <Paragraphs>245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Benjamin-Elias Probst</dc:creator>
  <cp:lastModifiedBy>Benjamin-Elias Probst</cp:lastModifiedBy>
  <cp:revision>1</cp:revision>
  <dcterms:created xsi:type="dcterms:W3CDTF">2026-01-27T22:25:25Z</dcterms:created>
  <dcterms:modified xsi:type="dcterms:W3CDTF">2026-01-28T15:41:10Z</dcterms:modified>
</cp:coreProperties>
</file>