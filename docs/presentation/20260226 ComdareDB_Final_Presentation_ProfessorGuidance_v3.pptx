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3" r:id="rId24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25"/>
    <p:sldId id="275" r:id="rId26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3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https://www.rfc-editor.org/rfc/rfc9110</a:t>
            </a:r>
          </a:p>
          <a:p>
            <a:r>
              <a:t>https://doi.org/10.1007/s002360050048</a:t>
            </a:r>
          </a:p>
          <a:p>
            <a:r>
              <a:t>https://www.usenix.org/conference/atc16/technical-sessions/presentation/xia</a:t>
            </a:r>
          </a:p>
          <a:p>
            <a:r>
              <a:t>https://pdos.csail.mit.edu/papers/lbfs:sosp01/lbfs.pdf</a:t>
            </a:r>
          </a:p>
          <a:p>
            <a:r>
              <a:t>http://kernel.dk/io_uring.pdf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pptx_old_unz/ppt/media/image-1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2552"/>
            <a:ext cx="1325880" cy="637896"/>
          </a:xfrm>
          <a:prstGeom prst="rect">
            <a:avLst/>
          </a:prstGeom>
        </p:spPr>
      </p:pic>
      <p:pic>
        <p:nvPicPr>
          <p:cNvPr id="4" name="Image 1" descr="/mnt/data/pptx_old_unz/ppt/media/image-1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75787"/>
            <a:ext cx="1325880" cy="5822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10058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Eigentokens &amp; ComdareDB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800">
                <a:solidFill>
                  <a:srgbClr val="5A6B7B"/>
                </a:solidFill>
                <a:latin typeface="Calibri"/>
              </a:rPr>
              <a:t>Profile Project: Eigentokens / ComdareDB</a:t>
            </a:r>
            <a:endParaRPr lang="en-US" sz="1800" dirty="0"/>
          </a:p>
          <a:p>
            <a:r>
              <a:rPr/>
              <a:t>Final Presentation (20–25 min)</a:t>
            </a:r>
          </a:p>
        </p:txBody>
      </p:sp>
      <p:sp>
        <p:nvSpPr>
          <p:cNvPr id="7" name="Shape 3"/>
          <p:cNvSpPr/>
          <p:nvPr/>
        </p:nvSpPr>
        <p:spPr>
          <a:xfrm>
            <a:off x="0" y="6720840"/>
            <a:ext cx="12191695" cy="73152"/>
          </a:xfrm>
          <a:prstGeom prst="rect">
            <a:avLst/>
          </a:prstGeom>
          <a:solidFill>
            <a:srgbClr val="CFE8F9"/>
          </a:solidFill>
          <a:ln w="12700">
            <a:solidFill>
              <a:srgbClr val="CFE8F9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640080" y="23317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79C7"/>
                </a:solidFill>
              </a:rPr>
              <a:t>Core message: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40080" y="2651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B2E4B"/>
                </a:solidFill>
              </a:rPr>
              <a:t>Treat storage as a grammar. Then compile models deterministically from the same grammar cookbook.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640080" y="3794760"/>
            <a:ext cx="10972800" cy="233172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914400" y="397764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24"/>
                </a:solidFill>
              </a:rPr>
              <a:t>Profile Project (TU Dresden) – Status: Feb 2026
</a:t>
            </a:r>
            <a:pPr indent="0" marL="0">
              <a:buNone/>
            </a:pPr>
            <a:r>
              <a:rPr lang="en-US" sz="1600" dirty="0">
                <a:solidFill>
                  <a:srgbClr val="0F1A24"/>
                </a:solidFill>
              </a:rPr>
              <a:t>Benjamin-Elias Probst | Supervisor: Prof. Dr. Michael Färber (SCaDS.AI)
</a:t>
            </a:r>
            <a:pPr indent="0" marL="0">
              <a:buNone/>
            </a:pPr>
            <a:r>
              <a:rPr lang="en-US" sz="1600" dirty="0">
                <a:solidFill>
                  <a:srgbClr val="0F1A24"/>
                </a:solidFill>
              </a:rPr>
              <a:t>Focus: grammatical chunking, range-seekable reconstruction, compile path to ELM/CELM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Agenda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3000">
                <a:solidFill>
                  <a:srgbClr val="0B2E4B"/>
                </a:solidFill>
              </a:rPr>
              <a:t>What we cover in ~20–25 minutes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5778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2240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Part A — Core idea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sz="1300">
                <a:solidFill>
                  <a:srgbClr val="0F1A24"/>
                </a:solidFill>
              </a:rPr>
              <a:t>Key content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sz="1300">
                <a:solidFill>
                  <a:srgbClr val="0F1A24"/>
                </a:solidFill>
              </a:rPr>
              <a:t>Motivation + research question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sz="1300">
                <a:solidFill>
                  <a:srgbClr val="0F1A24"/>
                </a:solidFill>
              </a:rPr>
              <a:t>Running example: log line → tokens → B⁺-tree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2011680"/>
            <a:ext cx="51663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766560" y="224028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Part B — Architecture &amp; plan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2606040"/>
            <a:ext cx="45262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sz="1300">
                <a:solidFill>
                  <a:srgbClr val="0F1A24"/>
                </a:solidFill>
              </a:rPr>
              <a:t>Structure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sz="1300">
                <a:solidFill>
                  <a:srgbClr val="0F1A24"/>
                </a:solidFill>
              </a:rPr>
              <a:t>ComdareDB architecture + ELM compilation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sz="1300">
                <a:solidFill>
                  <a:srgbClr val="0F1A24"/>
                </a:solidFill>
              </a:rPr>
              <a:t>Baselines + evaluation plan + roadmap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Key terms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Key terms: a 60-second glossary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9728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>
            <a:pPr>
              <a:defRPr sz="1600"/>
            </a:pPr>
          </a:p>
        </p:txBody>
      </p:sp>
      <p:sp>
        <p:nvSpPr>
          <p:cNvPr id="8" name="Text 6"/>
          <p:cNvSpPr/>
          <p:nvPr/>
        </p:nvSpPr>
        <p:spPr>
          <a:xfrm>
            <a:off x="960120" y="22402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Definitions (one-liners)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7315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None/>
            </a:pPr>
            <a:r>
              <a:rPr sz="1300"/>
              <a:t>• Deduplication — store unique content once, reuse via references.</a:t>
            </a:r>
            <a:endParaRPr lang="en-US" sz="1300" dirty="0"/>
          </a:p>
          <a:p>
            <a:pPr>
              <a:buNone/>
            </a:pPr>
            <a:r>
              <a:rPr sz="1300"/>
              <a:t>• Content-defined chunking (CDC) — rolling-hash boundaries (baseline).</a:t>
            </a:r>
          </a:p>
          <a:p>
            <a:pPr>
              <a:buNone/>
            </a:pPr>
            <a:r>
              <a:rPr sz="1300"/>
              <a:t>• Grammar — rules that generate sequences; reusable productions across objects.</a:t>
            </a:r>
          </a:p>
          <a:p>
            <a:pPr>
              <a:buNone/>
            </a:pPr>
            <a:r>
              <a:rPr sz="1300"/>
              <a:t>• Chomsky hierarchy — Regular ⊂ CFG ⊂ CSG ⊂ RE (expressiveness).</a:t>
            </a:r>
          </a:p>
          <a:p>
            <a:pPr>
              <a:buNone/>
            </a:pPr>
            <a:r>
              <a:rPr sz="1300"/>
              <a:t>• Eigentoken — content-addressed unit ⟨id, P, D, R⟩ (id = SHA-512).</a:t>
            </a:r>
          </a:p>
          <a:p>
            <a:pPr>
              <a:buNone/>
            </a:pPr>
            <a:r>
              <a:rPr sz="1300"/>
              <a:t>• Traceable model — compiled rules + retrieval program (not opaque weights).</a:t>
            </a:r>
          </a:p>
          <a:p>
            <a:pPr>
              <a:buNone/>
            </a:pPr>
          </a:p>
          <a:p>
            <a:pPr>
              <a:buNone/>
            </a:pPr>
          </a:p>
        </p:txBody>
      </p:sp>
      <p:sp>
        <p:nvSpPr>
          <p:cNvPr id="10" name="Rectangle 9"/>
          <p:cNvSpPr/>
          <p:nvPr/>
        </p:nvSpPr>
        <p:spPr>
          <a:xfrm>
            <a:off x="9434322" y="2788920"/>
            <a:ext cx="2162556" cy="594360"/>
          </a:xfrm>
          <a:prstGeom prst="rect">
            <a:avLst/>
          </a:prstGeom>
          <a:solidFill>
            <a:srgbClr val="EAF4FF"/>
          </a:solidFill>
          <a:ln>
            <a:solidFill>
              <a:srgbClr val="BBD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2E4B"/>
                </a:solidFill>
              </a:rPr>
              <a:t>Type-0: Recursively Enumerable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41130" y="3383280"/>
            <a:ext cx="2948940" cy="594360"/>
          </a:xfrm>
          <a:prstGeom prst="rect">
            <a:avLst/>
          </a:prstGeom>
          <a:solidFill>
            <a:srgbClr val="EAF4FF"/>
          </a:solidFill>
          <a:ln>
            <a:solidFill>
              <a:srgbClr val="BBD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0B2E4B"/>
                </a:solidFill>
              </a:rPr>
              <a:t>Type-1: Context-Sensitive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46236" y="3977640"/>
            <a:ext cx="3538728" cy="594360"/>
          </a:xfrm>
          <a:prstGeom prst="rect">
            <a:avLst/>
          </a:prstGeom>
          <a:solidFill>
            <a:srgbClr val="EAF4FF"/>
          </a:solidFill>
          <a:ln>
            <a:solidFill>
              <a:srgbClr val="BBD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0B2E4B"/>
                </a:solidFill>
              </a:rPr>
              <a:t>Type-2: Context-Free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4572000"/>
            <a:ext cx="3931920" cy="594360"/>
          </a:xfrm>
          <a:prstGeom prst="rect">
            <a:avLst/>
          </a:prstGeom>
          <a:solidFill>
            <a:srgbClr val="EAF4FF"/>
          </a:solidFill>
          <a:ln>
            <a:solidFill>
              <a:srgbClr val="BBD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0B2E4B"/>
                </a:solidFill>
              </a:rPr>
              <a:t>Type-3: Regular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5303520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5A6B7B"/>
                </a:solidFill>
              </a:rPr>
              <a:t>ComdareDB: CFG rules + context-sensitive</a:t>
            </a:r>
          </a:p>
          <a:p>
            <a:pPr algn="ctr"/>
            <a:r>
              <a:rPr sz="1200">
                <a:solidFill>
                  <a:srgbClr val="5A6B7B"/>
                </a:solidFill>
              </a:rPr>
              <a:t>constraints via fingerprints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Why “store bytes” is not enough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9728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22402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Pain points we target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10332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sz="1300">
                <a:solidFill>
                  <a:srgbClr val="0F1A24"/>
                </a:solidFill>
              </a:rPr>
              <a:t>LLMs compress knowledge into weights → limited traceability.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sz="1300">
                <a:solidFill>
                  <a:srgbClr val="0F1A24"/>
                </a:solidFill>
              </a:rPr>
              <a:t>Dedup DBs optimize storage, but ignore grammar/semantics.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sz="1300">
                <a:solidFill>
                  <a:srgbClr val="0F1A24"/>
                </a:solidFill>
              </a:rPr>
              <a:t>Goal: turn dedup signals + grammar into a compilable, traceable model.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Idea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One substrate: a grammar of the dataset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3337560" cy="8229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58568"/>
            <a:ext cx="3063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Ingest objects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(files / blobs)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69080" y="2331720"/>
            <a:ext cx="548640" cy="457200"/>
          </a:xfrm>
          <a:prstGeom prst="right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709160" y="2148840"/>
            <a:ext cx="3566160" cy="822960"/>
          </a:xfrm>
          <a:prstGeom prst="roundRect">
            <a:avLst/>
          </a:prstGeom>
          <a:solidFill>
            <a:srgbClr val="DFF0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46320" y="2258568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Grammar induction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(cross-object)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66760" y="2331720"/>
            <a:ext cx="548640" cy="457200"/>
          </a:xfrm>
          <a:prstGeom prst="right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098280" y="2148840"/>
            <a:ext cx="2514600" cy="8229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235440" y="2258568"/>
            <a:ext cx="2240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Grammar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cookbook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12680" y="3063240"/>
            <a:ext cx="502920" cy="594360"/>
          </a:xfrm>
          <a:prstGeom prst="down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355080" y="3063240"/>
            <a:ext cx="502920" cy="594360"/>
          </a:xfrm>
          <a:prstGeom prst="down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0080" y="3886200"/>
            <a:ext cx="5394960" cy="2011680"/>
          </a:xfrm>
          <a:prstGeom prst="roundRect">
            <a:avLst/>
          </a:prstGeom>
          <a:solidFill>
            <a:srgbClr val="F5FB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77240" y="3995928"/>
            <a:ext cx="5120640" cy="1792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Storage kernel (ComdareDB)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• hash-indexed tokens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• range maps (HTTP Range)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• rebuild via VM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3886200"/>
            <a:ext cx="5212080" cy="2011680"/>
          </a:xfrm>
          <a:prstGeom prst="roundRect">
            <a:avLst/>
          </a:prstGeom>
          <a:solidFill>
            <a:srgbClr val="F5FB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537960" y="3995928"/>
            <a:ext cx="4937760" cy="1792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Compiler path (ELM/CELM)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• modules from rules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• deterministic weights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• traceable outputs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Core abstraction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Eigentoken = data + interpreter program + references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79C7"/>
                </a:solidFill>
              </a:rPr>
              <a:t>Formal view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10972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25146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E4B"/>
                </a:solidFill>
              </a:rPr>
              <a:t>T = ⟨ id, P, D, R ⟩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109728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39319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Interpretation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4297680"/>
            <a:ext cx="10332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id: SHA-512 content-derived identifier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P: interpretation program (CELM-lang / VM ops)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D: optional raw payload (only for irreducible literals)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R: references (dependencies) → forms a DAG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Grammatical chunking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From bytes → stable rules (cross-object)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79C7"/>
                </a:solidFill>
              </a:rPr>
              <a:t>Three-layer strategy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109728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2514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L0  Seed (CDC)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8221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L1  Grammar induction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51389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L2  Rule stabilization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86200" y="2487168"/>
            <a:ext cx="7269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</a:rPr>
              <a:t>Fast boundaries for ingest + quick dedup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</a:rPr>
              <a:t>• content-defined breakpoints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</a:rPr>
              <a:t>• provisional tokens with D=raw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86200" y="3794760"/>
            <a:ext cx="7269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</a:rPr>
              <a:t>Discover repeated substrings across all objects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</a:rPr>
              <a:t>• Sequitur/Re-Pair-like replacement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</a:rPr>
              <a:t>• create composite tokens (P=CONCAT, D=null)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86200" y="5102352"/>
            <a:ext cx="7269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</a:rPr>
              <a:t>Prefer rules stable under edits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</a:rPr>
              <a:t>• merge near-duplicates with parametrization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24"/>
                </a:solidFill>
              </a:rPr>
              <a:t>• maintain range maps + reference integrity</a:t>
            </a:r>
            <a:endParaRPr lang="en-US" sz="1300" dirty="0"/>
          </a:p>
        </p:txBody>
      </p:sp>
      <p:sp>
        <p:nvSpPr>
          <p:cNvPr id="15" name="Rounded Rectangle 14"/>
          <p:cNvSpPr/>
          <p:nvPr/>
        </p:nvSpPr>
        <p:spPr>
          <a:xfrm>
            <a:off x="7589520" y="5120640"/>
            <a:ext cx="4389120" cy="1188720"/>
          </a:xfrm>
          <a:prstGeom prst="roundRect">
            <a:avLst/>
          </a:prstGeom>
          <a:solidFill>
            <a:srgbClr val="EAF4FF"/>
          </a:solidFill>
          <a:ln>
            <a:solidFill>
              <a:srgbClr val="BBD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0B2E4B"/>
                </a:solidFill>
              </a:rPr>
              <a:t>Running example</a:t>
            </a:r>
          </a:p>
          <a:p>
            <a:r>
              <a:rPr sz="1200">
                <a:solidFill>
                  <a:srgbClr val="0B2E4B"/>
                </a:solidFill>
              </a:rPr>
              <a:t>GET /v1/nodes/42/stats</a:t>
            </a:r>
            <a:br/>
            <a:r>
              <a:rPr sz="1200">
                <a:solidFill>
                  <a:srgbClr val="0B2E4B"/>
                </a:solidFill>
              </a:rPr>
              <a:t>GET /v1/nodes/43/stats</a:t>
            </a:r>
          </a:p>
          <a:p>
            <a:r>
              <a:rPr sz="1100">
                <a:solidFill>
                  <a:srgbClr val="5A6B7B"/>
                </a:solidFill>
              </a:rPr>
              <a:t>Baseline (CDC): 0/1 chunk reused  →  Eigentokens: 3/4 tokens reused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Grammatical chunking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Example: bytes → tokens → higher-level rules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79C7"/>
                </a:solidFill>
              </a:rPr>
              <a:t>Input (two objects)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53949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25146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400">
                <a:solidFill>
                  <a:srgbClr val="0F1A24"/>
                </a:solidFill>
                <a:latin typeface="Consolas"/>
              </a:rPr>
              <a:t>Object A:</a:t>
            </a:r>
            <a:endParaRPr lang="en-US" sz="1400" dirty="0"/>
          </a:p>
          <a:p>
            <a:pPr indent="0" marL="0">
              <a:buNone/>
            </a:pPr>
            <a:r>
              <a:rPr sz="1400">
                <a:solidFill>
                  <a:srgbClr val="0F1A24"/>
                </a:solidFill>
                <a:latin typeface="Consolas"/>
              </a:rPr>
              <a:t>GET /v1/nodes/42/stats</a:t>
            </a:r>
            <a:endParaRPr lang="en-US" sz="1400" dirty="0"/>
          </a:p>
          <a:p/>
          <a:p>
            <a:r>
              <a:rPr/>
              <a:t>Object B:</a:t>
            </a:r>
          </a:p>
          <a:p>
            <a:r>
              <a:rPr/>
              <a:t>GET /v1/nodes/43/stats</a:t>
            </a:r>
          </a:p>
        </p:txBody>
      </p:sp>
      <p:sp>
        <p:nvSpPr>
          <p:cNvPr id="10" name="Text 8"/>
          <p:cNvSpPr/>
          <p:nvPr/>
        </p:nvSpPr>
        <p:spPr>
          <a:xfrm>
            <a:off x="640080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79C7"/>
                </a:solidFill>
              </a:rPr>
              <a:t>Rules discovered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3172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29400" y="2487168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300">
                <a:solidFill>
                  <a:srgbClr val="0F1A24"/>
                </a:solidFill>
                <a:latin typeface="Consolas"/>
              </a:rPr>
              <a:t>Induced rule (illustrative):</a:t>
            </a:r>
            <a:endParaRPr lang="en-US" sz="1300" dirty="0"/>
          </a:p>
          <a:p>
            <a:pPr indent="0" marL="0">
              <a:buNone/>
            </a:pPr>
            <a:r>
              <a:rPr sz="1300">
                <a:solidFill>
                  <a:srgbClr val="0F1A24"/>
                </a:solidFill>
                <a:latin typeface="Consolas"/>
              </a:rPr>
              <a:t>R0 → t1  t2  &lt;id&gt;  t3</a:t>
            </a:r>
            <a:endParaRPr lang="en-US" sz="1300" dirty="0"/>
          </a:p>
          <a:p>
            <a:pPr indent="0" marL="0">
              <a:buNone/>
            </a:pPr>
            <a:r>
              <a:rPr sz="1300">
                <a:solidFill>
                  <a:srgbClr val="0F1A24"/>
                </a:solidFill>
                <a:latin typeface="Consolas"/>
              </a:rPr>
              <a:t>t1 = "GET "</a:t>
            </a:r>
            <a:endParaRPr lang="en-US" sz="1300" dirty="0"/>
          </a:p>
          <a:p>
            <a:pPr indent="0" marL="0">
              <a:buNone/>
            </a:pPr>
            <a:r>
              <a:rPr sz="1300">
                <a:solidFill>
                  <a:srgbClr val="0F1A24"/>
                </a:solidFill>
                <a:latin typeface="Consolas"/>
              </a:rPr>
              <a:t>t2 = "/v1/nodes/"</a:t>
            </a:r>
            <a:endParaRPr lang="en-US" sz="1300" dirty="0"/>
          </a:p>
          <a:p>
            <a:pPr indent="0" marL="0">
              <a:buNone/>
            </a:pPr>
            <a:r>
              <a:rPr sz="1300">
                <a:solidFill>
                  <a:srgbClr val="0F1A24"/>
                </a:solidFill>
                <a:latin typeface="Consolas"/>
              </a:rPr>
              <a:t>t3 = "/stats"</a:t>
            </a:r>
            <a:endParaRPr lang="en-US" sz="1300" dirty="0"/>
          </a:p>
          <a:p>
            <a:r>
              <a:rPr/>
              <a:t>&lt;id&gt; ∈ {"42","43",…}</a:t>
            </a:r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972800" cy="210312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4400" y="434340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What we get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681728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sz="1400">
                <a:solidFill>
                  <a:srgbClr val="0F1A24"/>
                </a:solidFill>
              </a:rPr>
              <a:t>• Stable substrings become reusable tokens (cross-object).</a:t>
            </a:r>
            <a:endParaRPr lang="en-US" sz="1400" dirty="0"/>
          </a:p>
          <a:p>
            <a:r>
              <a:rPr/>
              <a:t>• Only the varying part (id) creates a new token.</a:t>
            </a:r>
          </a:p>
          <a:p>
            <a:r>
              <a:rPr/>
              <a:t>• Retrieval can emit a traceable “next-token program” over rules.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Storage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Hash-indexed token store + range-seekable access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3949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2240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B+ forest (non-strict)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sz="1300">
                <a:solidFill>
                  <a:srgbClr val="0F1A24"/>
                </a:solidFill>
              </a:rPr>
              <a:t>Key: id = SHA-512(token bytes) → ordered index (B⁺-tree).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sz="1300">
                <a:solidFill>
                  <a:srgbClr val="0F1A24"/>
                </a:solidFill>
              </a:rPr>
              <a:t>Value: ⟨type, payload | refs, metrics⟩.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sz="1300">
                <a:solidFill>
                  <a:srgbClr val="0F1A24"/>
                </a:solidFill>
              </a:rPr>
              <a:t>Insert updates inbound/follow counters for grammar discovery.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2011680"/>
            <a:ext cx="51663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766560" y="224028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Range mapping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2606040"/>
            <a:ext cx="45262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sz="1300">
                <a:solidFill>
                  <a:srgbClr val="0F1A24"/>
                </a:solidFill>
              </a:rPr>
              <a:t>Range map: ⟨start,end⟩ → token-id list.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sz="1300">
                <a:solidFill>
                  <a:srgbClr val="0F1A24"/>
                </a:solidFill>
              </a:rPr>
              <a:t>Enables seekable reads &amp; partial reconstruction.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sz="1300">
                <a:solidFill>
                  <a:srgbClr val="0F1A24"/>
                </a:solidFill>
              </a:rPr>
              <a:t>Used for traceable retrieval over prefixes.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endParaRPr lang="en-US" sz="1300" dirty="0"/>
          </a:p>
        </p:txBody>
      </p:sp>
      <p:sp>
        <p:nvSpPr>
          <p:cNvPr id="13" name="Rectangle 12"/>
          <p:cNvSpPr/>
          <p:nvPr/>
        </p:nvSpPr>
        <p:spPr>
          <a:xfrm>
            <a:off x="1097280" y="4206240"/>
            <a:ext cx="47548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BD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0B2E4B"/>
                </a:solidFill>
              </a:rPr>
              <a:t>root: [h("/stats") | h("/v1/nodes/")]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846320"/>
            <a:ext cx="23774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BBD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B2E4B"/>
                </a:solidFill>
              </a:rPr>
              <a:t>leaf A</a:t>
            </a:r>
          </a:p>
          <a:p>
            <a:pPr lvl="1"/>
            <a:r>
              <a:rPr sz="1100">
                <a:solidFill>
                  <a:srgbClr val="0B2E4B"/>
                </a:solidFill>
              </a:rPr>
              <a:t>h("GET ") → token</a:t>
            </a:r>
          </a:p>
          <a:p>
            <a:pPr lvl="1"/>
            <a:r>
              <a:rPr sz="1100">
                <a:solidFill>
                  <a:srgbClr val="0B2E4B"/>
                </a:solidFill>
              </a:rPr>
              <a:t>h("/stats") → token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4846320"/>
            <a:ext cx="23774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BBD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B2E4B"/>
                </a:solidFill>
              </a:rPr>
              <a:t>leaf B</a:t>
            </a:r>
          </a:p>
          <a:p>
            <a:pPr lvl="1"/>
            <a:r>
              <a:rPr sz="1100">
                <a:solidFill>
                  <a:srgbClr val="0B2E4B"/>
                </a:solidFill>
              </a:rPr>
              <a:t>h("/v1/nodes/") → token</a:t>
            </a:r>
          </a:p>
          <a:p>
            <a:pPr lvl="1"/>
            <a:r>
              <a:rPr sz="1100">
                <a:solidFill>
                  <a:srgbClr val="0B2E4B"/>
                </a:solidFill>
              </a:rPr>
              <a:t>h("42") / h("43") → token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11680" y="4709160"/>
            <a:ext cx="274320" cy="137160"/>
          </a:xfrm>
          <a:prstGeom prst="line">
            <a:avLst/>
          </a:prstGeom>
          <a:ln>
            <a:solidFill>
              <a:srgbClr val="BBD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4663440" y="4709160"/>
            <a:ext cx="274320" cy="137160"/>
          </a:xfrm>
          <a:prstGeom prst="line">
            <a:avLst/>
          </a:prstGeom>
          <a:ln>
            <a:solidFill>
              <a:srgbClr val="BBD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Pipeline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Separate low-latency writes from heavy grammar 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338328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395728"/>
            <a:ext cx="3108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Stage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Immediate ingest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06240" y="2505456"/>
            <a:ext cx="594360" cy="502920"/>
          </a:xfrm>
          <a:prstGeom prst="right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892040" y="2286000"/>
            <a:ext cx="3383280" cy="914400"/>
          </a:xfrm>
          <a:prstGeom prst="roundRect">
            <a:avLst/>
          </a:prstGeom>
          <a:solidFill>
            <a:srgbClr val="DFF0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29200" y="2395728"/>
            <a:ext cx="3108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Stage 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Background induction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66760" y="2505456"/>
            <a:ext cx="594360" cy="502920"/>
          </a:xfrm>
          <a:prstGeom prst="right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098280" y="2286000"/>
            <a:ext cx="251460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235440" y="2395728"/>
            <a:ext cx="2240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Stage 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Index optimize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520440"/>
            <a:ext cx="109728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374904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Key properties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406908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Stage 1 commits fast: chunk + hash + insert provisional tokens
</a:t>
            </a:r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Stage 2 refines representation: creates higher-level grammar rules
</a:t>
            </a:r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Stage 3 compaction: drop obsolete raw chunks, rebalance trees, snapshot
</a:t>
            </a:r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Read path is always correct; internal structure becomes better over time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CELM-lang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Interpretation programs as a meta-language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9728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22402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Why a meta-language?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10332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Tokens are a binary description language; programs P explain how to rebuild/transform.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CELM-lang adds compositional ops: CONCAT, SPLIT, MAP, MATCH, etc.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Rules can be recursive and parameterized (families of patterns).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Open-world: new ops can be added without rewriting the C++ core (VM extension).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Compilation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From grammar cookbook to deterministic ELM modules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79C7"/>
                </a:solidFill>
              </a:rPr>
              <a:t>Conceptual compilation pipeline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331720"/>
            <a:ext cx="3154680" cy="8686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2441448"/>
            <a:ext cx="288036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Grammar cookbook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(tokens + rules)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9080" y="2523744"/>
            <a:ext cx="594360" cy="502920"/>
          </a:xfrm>
          <a:prstGeom prst="right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800600" y="2331720"/>
            <a:ext cx="3611880" cy="868680"/>
          </a:xfrm>
          <a:prstGeom prst="roundRect">
            <a:avLst/>
          </a:prstGeom>
          <a:solidFill>
            <a:srgbClr val="DFF0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937760" y="2441448"/>
            <a:ext cx="333756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Module synthesis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(rule → component)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503920" y="2523744"/>
            <a:ext cx="594360" cy="502920"/>
          </a:xfrm>
          <a:prstGeom prst="right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235440" y="2331720"/>
            <a:ext cx="2331720" cy="8686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372600" y="2441448"/>
            <a:ext cx="205740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ELM artifact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2E4B"/>
                </a:solidFill>
              </a:rPr>
              <a:t>(deterministic)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10972800" cy="283464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14400" y="361188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What “compile” means here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931920"/>
            <a:ext cx="10424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No gradient descent during compilation: structure and parameters are derived from rules
</a:t>
            </a:r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Traceability: every module/weight points back to a specific production rule
</a:t>
            </a:r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Incremental updates: new data → new rules → new modules (no full retrain)
</a:t>
            </a:r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Determinism: same input corpus and rules → identical model artifact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Phases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Six-phase contract (0–5): from bootstrap to AI optimization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1691640" cy="77724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2350008"/>
            <a:ext cx="14173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Phase 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Bootstrap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40280" y="2423160"/>
            <a:ext cx="201168" cy="411480"/>
          </a:xfrm>
          <a:prstGeom prst="right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3063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shell / minimal tools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41448" y="2240280"/>
            <a:ext cx="1691640" cy="777240"/>
          </a:xfrm>
          <a:prstGeom prst="roundRect">
            <a:avLst/>
          </a:prstGeom>
          <a:solidFill>
            <a:srgbClr val="DFF0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578608" y="2350008"/>
            <a:ext cx="14173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Phase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Toolchain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33088" y="2423160"/>
            <a:ext cx="201168" cy="411480"/>
          </a:xfrm>
          <a:prstGeom prst="right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441448" y="3063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C/C++ compilers, cmake/ninja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34256" y="2240280"/>
            <a:ext cx="1691640" cy="77724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471416" y="2350008"/>
            <a:ext cx="14173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Phase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Core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25896" y="2423160"/>
            <a:ext cx="201168" cy="411480"/>
          </a:xfrm>
          <a:prstGeom prst="right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334256" y="3063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XML + wrappers stable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27064" y="2240280"/>
            <a:ext cx="1691640" cy="777240"/>
          </a:xfrm>
          <a:prstGeom prst="roundRect">
            <a:avLst/>
          </a:prstGeom>
          <a:solidFill>
            <a:srgbClr val="DFF0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64224" y="2350008"/>
            <a:ext cx="14173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Phase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Interpreter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918704" y="2423160"/>
            <a:ext cx="201168" cy="411480"/>
          </a:xfrm>
          <a:prstGeom prst="right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227064" y="3063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C++ interpreter + plugins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19872" y="2240280"/>
            <a:ext cx="1691640" cy="77724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257032" y="2350008"/>
            <a:ext cx="14173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Phase 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Hardware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811512" y="2423160"/>
            <a:ext cx="201168" cy="411480"/>
          </a:xfrm>
          <a:prstGeom prst="rightArrow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119872" y="3063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GPU/FPGA, scheduling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012680" y="2240280"/>
            <a:ext cx="1691640" cy="777240"/>
          </a:xfrm>
          <a:prstGeom prst="roundRect">
            <a:avLst/>
          </a:prstGeom>
          <a:solidFill>
            <a:srgbClr val="DFF0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0149840" y="2350008"/>
            <a:ext cx="14173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Phase 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E4B"/>
                </a:solidFill>
              </a:rPr>
              <a:t>Optimization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12680" y="3063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benchmarks, auto-tune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3703320"/>
            <a:ext cx="1097280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14400" y="388620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Where ComdareDB fits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4400" y="4206240"/>
            <a:ext cx="10424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Phase 3: interpreter_ready requires plugin binaries + manifest + sha512 verification
</a:t>
            </a:r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Phase 4: grammar induction scheduling across CPU/GPU/FPGA frameworks
</a:t>
            </a:r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• Phase 5: compare_benchmark loop writes benchmark profiles to AM database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1300">
                <a:solidFill>
                  <a:srgbClr val="2D79C7"/>
                </a:solidFill>
              </a:rPr>
              <a:t>Evaluation design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3000">
                <a:solidFill>
                  <a:srgbClr val="0B2E4B"/>
                </a:solidFill>
              </a:rPr>
              <a:t>Baselines + metrics (results pending)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5778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2240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Storage metrics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Dedup/compression ratio (incl. metadata)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Write amplification (bytes written / bytes ingested)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Token count growth and hot-token distribution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Range read overhead (P50/P95/P99)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2011680"/>
            <a:ext cx="51663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766560" y="224028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1600">
                <a:solidFill>
                  <a:srgbClr val="0B2E4B"/>
                </a:solidFill>
              </a:rPr>
              <a:t>Baselines &amp; status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2606040"/>
            <a:ext cx="45262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sz="1300">
                <a:solidFill>
                  <a:srgbClr val="0F1A24"/>
                </a:solidFill>
              </a:rPr>
              <a:t>Baselines: fixed-size chunks, FastCDC, Sequitur/Re-Pair (offline), vector DB retrieval.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sz="1300">
                <a:solidFill>
                  <a:srgbClr val="0F1A24"/>
                </a:solidFill>
              </a:rPr>
              <a:t>Metrics: dedup ratio, write amp, throughput, lookup latency, pointer stats.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sz="1300">
                <a:solidFill>
                  <a:srgbClr val="0F1A24"/>
                </a:solidFill>
              </a:rPr>
              <a:t>Status: PoC works; quantitative evaluation is the remaining blocker.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Status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What is implemented vs. still open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5778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2240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Implemented / stabilized (docs + contracts)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Six-phase contract, run layout, status.json/report stubs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Toolchain/runner as schema concepts; cross-compile policy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ServiceRegistry topology (AM vs AD) + version endpoints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Delivery/compare_benchmark schemas + POSSIBLE gating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2011680"/>
            <a:ext cx="51663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766560" y="224028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Main engineering blockers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2606040"/>
            <a:ext cx="45262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BuildUtilities C++ interpreter skeleton + plugin loader ABI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Plugin binary pipeline: build → cache → upload/register → load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Phase 4: hardware detection + scheduling + toolkit pins per OS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Recursion tests across consumer projects (SITL/Steuerrater)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Risks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Known limitations and mitigation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9728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22402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What can go wrong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10332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Grammar induction worst-case cost (O(n^3)) → must be tamed with heuristics and batching.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Metadata growth on low-redundancy data → fall back to simpler block storage when needed.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Deterministic errors: wrong rule propagates everywhere → requires strong validation gates.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F1A24"/>
                </a:solidFill>
              </a:rPr>
              <a:t>Security: interpreter programs must be sandboxed (VM limits, recursion depth, timeouts).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9C7"/>
                </a:solidFill>
              </a:rPr>
              <a:t>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B"/>
                </a:solidFill>
              </a:rPr>
              <a:t>Concrete work packages (next sprint)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9728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22402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Priority order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10332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endParaRPr lang="en-US" sz="1300" dirty="0"/>
          </a:p>
          <a:p>
            <a:pPr marL="228600" indent="-228600">
              <a:buSzPct val="100000"/>
              <a:buChar char="•"/>
            </a:pPr>
            <a:endParaRPr lang="en-US" sz="1300" dirty="0"/>
          </a:p>
          <a:p>
            <a:pPr marL="228600" indent="-228600">
              <a:buSzPct val="100000"/>
              <a:buChar char="•"/>
            </a:pPr>
            <a:endParaRPr lang="en-US" sz="1300" dirty="0"/>
          </a:p>
          <a:p>
            <a:pPr marL="228600" indent="-228600">
              <a:buSzPct val="100000"/>
              <a:buChar char="•"/>
            </a:pPr>
            <a:endParaRPr lang="en-US" sz="1300" dirty="0"/>
          </a:p>
          <a:p>
            <a:pPr marL="228600" indent="-228600">
              <a:buSzPct val="100000"/>
              <a:buChar char="•"/>
            </a:pPr>
            <a:endParaRPr lang="en-US" sz="1300" dirty="0"/>
          </a:p>
          <a:p/>
          <a:p/>
          <a:p/>
          <a:p/>
          <a:p/>
          <a:p/>
        </p:txBody>
      </p:sp>
      <p:sp>
        <p:nvSpPr>
          <p:cNvPr id="10" name="Rounded Rectangle 9"/>
          <p:cNvSpPr/>
          <p:nvPr/>
        </p:nvSpPr>
        <p:spPr>
          <a:xfrm>
            <a:off x="1097280" y="3017520"/>
            <a:ext cx="3200400" cy="2788920"/>
          </a:xfrm>
          <a:prstGeom prst="roundRect">
            <a:avLst/>
          </a:prstGeom>
          <a:solidFill>
            <a:srgbClr val="EAF4FF"/>
          </a:solidFill>
          <a:ln>
            <a:solidFill>
              <a:srgbClr val="BBD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400">
                <a:solidFill>
                  <a:srgbClr val="0B2E4B"/>
                </a:solidFill>
              </a:rPr>
              <a:t>WP1 — Quantitative evaluation</a:t>
            </a:r>
          </a:p>
          <a:p>
            <a:pPr lvl="1"/>
            <a:r>
              <a:rPr sz="1200">
                <a:solidFill>
                  <a:srgbClr val="0B2E4B"/>
                </a:solidFill>
              </a:rPr>
              <a:t>Baselines: fixed-size, FastCDC,</a:t>
            </a:r>
          </a:p>
          <a:p>
            <a:pPr lvl="1"/>
            <a:r>
              <a:rPr sz="1200">
                <a:solidFill>
                  <a:srgbClr val="0B2E4B"/>
                </a:solidFill>
              </a:rPr>
              <a:t>Sequitur/Re-Pair (offline).</a:t>
            </a:r>
          </a:p>
          <a:p>
            <a:pPr lvl="1"/>
            <a:r>
              <a:rPr sz="1200">
                <a:solidFill>
                  <a:srgbClr val="0B2E4B"/>
                </a:solidFill>
              </a:rPr>
              <a:t>Metrics: dedup ratio, write amp,</a:t>
            </a:r>
          </a:p>
          <a:p>
            <a:pPr lvl="1"/>
            <a:r>
              <a:rPr sz="1200">
                <a:solidFill>
                  <a:srgbClr val="0B2E4B"/>
                </a:solidFill>
              </a:rPr>
              <a:t>throughput, latency, pointer stats.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3017520"/>
            <a:ext cx="3200400" cy="2788920"/>
          </a:xfrm>
          <a:prstGeom prst="roundRect">
            <a:avLst/>
          </a:prstGeom>
          <a:solidFill>
            <a:srgbClr val="EAF4FF"/>
          </a:solidFill>
          <a:ln>
            <a:solidFill>
              <a:srgbClr val="BBD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400">
                <a:solidFill>
                  <a:srgbClr val="0B2E4B"/>
                </a:solidFill>
              </a:rPr>
              <a:t>WP2 — Compiled model output</a:t>
            </a:r>
          </a:p>
          <a:p>
            <a:pPr lvl="1"/>
            <a:r>
              <a:rPr sz="1200">
                <a:solidFill>
                  <a:srgbClr val="0B2E4B"/>
                </a:solidFill>
              </a:rPr>
              <a:t>Finalize rule selection +</a:t>
            </a:r>
          </a:p>
          <a:p>
            <a:pPr lvl="1"/>
            <a:r>
              <a:rPr sz="1200">
                <a:solidFill>
                  <a:srgbClr val="0B2E4B"/>
                </a:solidFill>
              </a:rPr>
              <a:t>traceable program output.</a:t>
            </a:r>
          </a:p>
          <a:p>
            <a:pPr lvl="1"/>
            <a:r>
              <a:rPr sz="1200">
                <a:solidFill>
                  <a:srgbClr val="0B2E4B"/>
                </a:solidFill>
              </a:rPr>
              <a:t>Integrate with CELM/ELM</a:t>
            </a:r>
          </a:p>
          <a:p>
            <a:pPr lvl="1"/>
            <a:r>
              <a:rPr sz="1200">
                <a:solidFill>
                  <a:srgbClr val="0B2E4B"/>
                </a:solidFill>
              </a:rPr>
              <a:t>compilation pipeline.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3017520"/>
            <a:ext cx="3200400" cy="2788920"/>
          </a:xfrm>
          <a:prstGeom prst="roundRect">
            <a:avLst/>
          </a:prstGeom>
          <a:solidFill>
            <a:srgbClr val="EAF4FF"/>
          </a:solidFill>
          <a:ln>
            <a:solidFill>
              <a:srgbClr val="BBD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400">
                <a:solidFill>
                  <a:srgbClr val="0B2E4B"/>
                </a:solidFill>
              </a:rPr>
              <a:t>WP3 — Paper readiness</a:t>
            </a:r>
          </a:p>
          <a:p>
            <a:pPr lvl="1"/>
            <a:r>
              <a:rPr sz="1200">
                <a:solidFill>
                  <a:srgbClr val="0B2E4B"/>
                </a:solidFill>
              </a:rPr>
              <a:t>Sharpen research gap +</a:t>
            </a:r>
          </a:p>
          <a:p>
            <a:pPr lvl="1"/>
            <a:r>
              <a:rPr sz="1200">
                <a:solidFill>
                  <a:srgbClr val="0B2E4B"/>
                </a:solidFill>
              </a:rPr>
              <a:t>related work + limitations.</a:t>
            </a:r>
          </a:p>
          <a:p>
            <a:pPr lvl="1"/>
            <a:r>
              <a:rPr sz="1200">
                <a:solidFill>
                  <a:srgbClr val="0B2E4B"/>
                </a:solidFill>
              </a:rPr>
              <a:t>(Optional) Diplomarbeit:</a:t>
            </a:r>
          </a:p>
          <a:p>
            <a:pPr lvl="1"/>
            <a:r>
              <a:rPr sz="1200">
                <a:solidFill>
                  <a:srgbClr val="0B2E4B"/>
                </a:solidFill>
              </a:rPr>
              <a:t>autonomous adaptation + on-demand</a:t>
            </a:r>
          </a:p>
          <a:p>
            <a:pPr lvl="1"/>
            <a:r>
              <a:rPr sz="1200">
                <a:solidFill>
                  <a:srgbClr val="0B2E4B"/>
                </a:solidFill>
              </a:rPr>
              <a:t>model compilation.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pptx_old_unz/ppt/media/image-1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2552"/>
            <a:ext cx="1325880" cy="637896"/>
          </a:xfrm>
          <a:prstGeom prst="rect">
            <a:avLst/>
          </a:prstGeom>
        </p:spPr>
      </p:pic>
      <p:pic>
        <p:nvPicPr>
          <p:cNvPr id="4" name="Image 1" descr="/mnt/data/pptx_old_unz/ppt/media/image-1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75787"/>
            <a:ext cx="1325880" cy="5822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10058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0" y="6720840"/>
            <a:ext cx="12191695" cy="73152"/>
          </a:xfrm>
          <a:prstGeom prst="rect">
            <a:avLst/>
          </a:prstGeom>
          <a:solidFill>
            <a:srgbClr val="CFE8F9"/>
          </a:solidFill>
          <a:ln w="12700">
            <a:solidFill>
              <a:srgbClr val="CFE8F9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640080" y="2286000"/>
            <a:ext cx="10972800" cy="393192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914400" y="260604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B"/>
                </a:solidFill>
              </a:rPr>
              <a:t>Contact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14400" y="29260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Benjamin-Elias Probst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TU Dresden — SCaDS.AI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A24"/>
                </a:solidFill>
              </a:rPr>
              <a:t>Profile Project: Eigentokens / ComdareDB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14400" y="39776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</a:rPr>
              <a:t>Appendix-ready: chunking diagrams, phase contracts, run-layout schema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References (1/2)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Bibliography (from doku.bib)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9728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22402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Primary sources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10332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None/>
            </a:pPr>
            <a:r>
              <a:rPr sz="1000"/>
              <a:t>• Rabin (1981): fingerprinting by random polynomials.</a:t>
            </a:r>
            <a:endParaRPr lang="en-US" sz="1300" dirty="0"/>
          </a:p>
          <a:p>
            <a:pPr>
              <a:buNone/>
            </a:pPr>
            <a:r>
              <a:rPr sz="1000"/>
              <a:t>• Muthitacharoen et al. (2001): LBFS (file similarity).</a:t>
            </a:r>
          </a:p>
          <a:p>
            <a:pPr>
              <a:buNone/>
            </a:pPr>
            <a:r>
              <a:rPr sz="1000"/>
              <a:t>• Quinlan &amp; Dorward (2002): Venti (content-addressed storage).</a:t>
            </a:r>
          </a:p>
          <a:p>
            <a:pPr>
              <a:buNone/>
            </a:pPr>
            <a:r>
              <a:rPr sz="1000"/>
              <a:t>• Xia et al. (2016): FastCDC (CDC baseline).</a:t>
            </a:r>
          </a:p>
          <a:p>
            <a:pPr>
              <a:buNone/>
            </a:pPr>
            <a:r>
              <a:rPr sz="1000"/>
              <a:t>• O’Neil et al. (1996): LSM-tree (write-optimized KV storage).</a:t>
            </a:r>
          </a:p>
          <a:p>
            <a:pPr>
              <a:buNone/>
            </a:pPr>
            <a:r>
              <a:rPr sz="1000"/>
              <a:t>• Bayer &amp; McCreight (1972): B-tree indexing (B⁺-tree family).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640080" y="868680"/>
            <a:ext cx="2560320" cy="3657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6E6F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923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References (2/2)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Bibliography (from doku.bib)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BBD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Benjamin-Elias Probst | TU Dresden (SCaDS.AI) | Profile Project: Eigentokens / ComdareDB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9728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22402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Primary sources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10332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None/>
            </a:pPr>
            <a:r>
              <a:rPr sz="1000"/>
              <a:t>• Chomsky (1956/1959): formal languages + hierarchy.</a:t>
            </a:r>
            <a:endParaRPr lang="en-US" sz="1300" dirty="0"/>
          </a:p>
          <a:p>
            <a:pPr>
              <a:buNone/>
            </a:pPr>
            <a:r>
              <a:rPr sz="1000"/>
              <a:t>• Nevill-Manning &amp; Witten (1997): Sequitur (grammar inference).</a:t>
            </a:r>
          </a:p>
          <a:p>
            <a:pPr>
              <a:buNone/>
            </a:pPr>
            <a:r>
              <a:rPr sz="1000"/>
              <a:t>• Larsson &amp; Moffat (2000): Re-Pair (grammar-based compression).</a:t>
            </a:r>
          </a:p>
          <a:p>
            <a:pPr>
              <a:buNone/>
            </a:pPr>
            <a:r>
              <a:rPr sz="1000"/>
              <a:t>• Vaswani et al. (2017): Transformer architecture.</a:t>
            </a:r>
          </a:p>
          <a:p>
            <a:pPr>
              <a:buNone/>
            </a:pPr>
            <a:r>
              <a:rPr sz="1000"/>
              <a:t>• Brown et al. (2020): GPT-3 (scaling LLMs).</a:t>
            </a:r>
          </a:p>
          <a:p>
            <a:pPr>
              <a:buNone/>
            </a:pPr>
            <a:r>
              <a:rPr sz="1000"/>
              <a:t>• Lewis et al. (2020): Retrieval-Augmented Generation (RAG).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2026-02-21T01:09:38Z</dcterms:created>
  <dcterms:modified xsi:type="dcterms:W3CDTF">2026-02-21T01:09:38Z</dcterms:modified>
</cp:coreProperties>
</file>