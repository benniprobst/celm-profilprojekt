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50" d="100"/>
          <a:sy n="250" d="100"/>
        </p:scale>
        <p:origin x="186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1BDAB-B39D-A045-B33B-92DE5EA00E98}" type="datetimeFigureOut">
              <a:rPr lang="de-DE" smtClean="0"/>
              <a:t>09.01.2026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116A1-0072-904A-AB37-9C6B14A6D8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723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TU Dresden logo image: https://tu-dresden.de/tu-dresden/profil/ressourcen/bilder/markenwerte/TUD_Vorschaubilder_Marke_640x430_Logo_2.jpg/%40%40images/f2313fc9-77b3-454f-a3db-fb3f8978cd80.jpeg
- ScaDS.AI logo (public domain): https://commons.wikimedia.org/wiki/File:Logo_ScaDS.AI.png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(No external visuals; agenda derived from project docs.)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Conceptual slide; no external visuals.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 partial content / range semantics: https://www.rfc-editor.org/rfc/rfc9110.html
- LoRA (for optional delta artifacts framing): https://arxiv.org/abs/2106.09685
- QLoRA (quantized + delta framing): https://arxiv.org/abs/2305.14314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SHA-512 is a NIST Secure Hash Algorithm family member (common cryptographic primitive). (General knowledge; no external visual.)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FastCDC paper (CDC baseline): https://www.usenix.org/system/files/conference/atc16/atc16-paper-xia.pdf
- SEQUITUR paper (grammar compression anchor): https://ml.cms.waikato.ac.nz/publications/1997/NM-IHW-Compress97.pdf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FastCDC (CDC baseline): https://www.usenix.org/system/files/conference/atc16/atc16-paper-xia.pdf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 range semantics (Partial Content): https://www.rfc-editor.org/rfc/rfc9110.html
- FastCDC (CDC seeding anchor): https://www.usenix.org/system/files/conference/atc16/atc16-paper-xia.pdf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 range semantics (Partial Content): https://www.rfc-editor.org/rfc/rfc9110.html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RFC 9110 HTTP Semantics (Range / 206 Partial Content): https://www.rfc-editor.org/rfc/rfc9110.html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(No external visuals; phase contract and AM definitions are project-internal.)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(No external visuals; contract derived from project docs.)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TVM paper (compiler framing): https://www.usenix.org/system/files/osdi18-chen.pdf
- LoRA (delta artifacts concept): https://arxiv.org/abs/2106.09685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LoRA: https://arxiv.org/abs/2106.09685
- QLoRA: https://arxiv.org/abs/2305.14314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(No external visuals; compare_benchmark and benchmark profile schema are project-internal.)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FastCDC (baseline): https://www.usenix.org/system/files/conference/atc16/atc16-paper-xia.pdf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(No external visuals; status derived from project updates.)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(No external visuals; risk analysis based on system design.)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(No external visuals.)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031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6522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&amp; RedcomponentDB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0980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Grammar-aware storage as substrate for a deterministic LLM compiler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732788"/>
            <a:ext cx="6522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presentation (30 min) • TU Dresden / ScaDS.AI • Prof. Dr. Michael Färber</a:t>
            </a:r>
            <a:endParaRPr lang="en-US" sz="1300" dirty="0"/>
          </a:p>
        </p:txBody>
      </p:sp>
      <p:pic>
        <p:nvPicPr>
          <p:cNvPr id="6" name="Image 0" descr="/mnt/data/assets/tud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635" y="228600"/>
            <a:ext cx="1900600" cy="914400"/>
          </a:xfrm>
          <a:prstGeom prst="rect">
            <a:avLst/>
          </a:prstGeom>
        </p:spPr>
      </p:pic>
      <p:pic>
        <p:nvPicPr>
          <p:cNvPr id="7" name="Image 1" descr="/mnt/data/assets/scad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3117" y="1234440"/>
            <a:ext cx="1513637" cy="594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377440"/>
            <a:ext cx="5669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5"/>
          <p:cNvSpPr/>
          <p:nvPr/>
        </p:nvSpPr>
        <p:spPr>
          <a:xfrm>
            <a:off x="548640" y="2377440"/>
            <a:ext cx="82296" cy="1600200"/>
          </a:xfrm>
          <a:prstGeom prst="rect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6"/>
          <p:cNvSpPr/>
          <p:nvPr/>
        </p:nvSpPr>
        <p:spPr>
          <a:xfrm>
            <a:off x="749808" y="254203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49808" y="2944368"/>
            <a:ext cx="5285232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redundancy into reusable grammar rules (tokens).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grammar as a deterministic build/compile substrate for LLM artifacts.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0" y="2377440"/>
            <a:ext cx="5242255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9"/>
          <p:cNvSpPr/>
          <p:nvPr/>
        </p:nvSpPr>
        <p:spPr>
          <a:xfrm>
            <a:off x="6400800" y="2377440"/>
            <a:ext cx="82296" cy="1600200"/>
          </a:xfrm>
          <a:prstGeom prst="rect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0"/>
          <p:cNvSpPr/>
          <p:nvPr/>
        </p:nvSpPr>
        <p:spPr>
          <a:xfrm>
            <a:off x="6601968" y="254203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01968" y="2944368"/>
            <a:ext cx="4858207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are versioned + redundant; reproducibility and auditing matter.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+ compilation pipelines can share contracts and artifacts.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&amp; RedcomponentDB • Interim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6235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2296" cy="2103120"/>
          </a:xfrm>
          <a:prstGeom prst="rect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49808" y="16276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Motivation &amp; concept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2029968"/>
            <a:ext cx="5239512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“compile” instead of “train-only”.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 model and grammar induction basics.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52422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82296" cy="2103120"/>
          </a:xfrm>
          <a:prstGeom prst="rect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601968" y="162763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— Storage + grammar chunking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01968" y="2029968"/>
            <a:ext cx="4858207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 (fixed/CDC/grammar).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RedcomponentDB architecture and access semantics.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6235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82296" cy="20116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749808" y="40050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— Execution pipeline (phases)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4407408"/>
            <a:ext cx="5239512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 (0–5), run layout, validation markers.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ActiveMachinery (AM) + ServiceRegistry role.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3840480"/>
            <a:ext cx="52422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6400800" y="3840480"/>
            <a:ext cx="82296" cy="2011680"/>
          </a:xfrm>
          <a:prstGeom prst="rect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601968" y="400507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— Compiler path &amp; evaluation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01968" y="4407408"/>
            <a:ext cx="4858207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→ deterministic model artifacts (+ optional deltas).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Benchmarks, compare_benchmark, risks, next steps.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opaque training to auditable compilation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interim • TU Dresden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1094415" cy="128016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777240" y="157276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signals in LLM engineering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637215" cy="911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hard to trace back to concrete data patterns.</a:t>
            </a:r>
            <a:endParaRPr lang="en-US" sz="16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updates often require expensive re-training cycles.</a:t>
            </a:r>
            <a:endParaRPr lang="en-US" sz="16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model artifacts are treated as separate worlds, duplicating work.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2131101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21792" y="3227832"/>
            <a:ext cx="198479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corpus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88885" y="3323844"/>
            <a:ext cx="91440" cy="347472"/>
          </a:xfrm>
          <a:prstGeom prst="rightArrow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2789469" y="3063240"/>
            <a:ext cx="2131101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2862621" y="3227832"/>
            <a:ext cx="198479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Grammar-aware storage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29713" y="3323844"/>
            <a:ext cx="91440" cy="347472"/>
          </a:xfrm>
          <a:prstGeom prst="rightArrow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5030297" y="3063240"/>
            <a:ext cx="2131101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103449" y="3227832"/>
            <a:ext cx="198479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rules (cookbook)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70542" y="3323844"/>
            <a:ext cx="91440" cy="347472"/>
          </a:xfrm>
          <a:prstGeom prst="rightArrow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7271126" y="3063240"/>
            <a:ext cx="2131101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7344278" y="3227832"/>
            <a:ext cx="198479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compile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411371" y="3323844"/>
            <a:ext cx="91440" cy="347472"/>
          </a:xfrm>
          <a:prstGeom prst="rightArrow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9511955" y="3063240"/>
            <a:ext cx="2131101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9585107" y="3227832"/>
            <a:ext cx="198479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model artifacts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5669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82296" cy="2057400"/>
          </a:xfrm>
          <a:prstGeom prst="rect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749808" y="432511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hypothesis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" y="4727448"/>
            <a:ext cx="5285232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 deduplicate via grammar induction, we already have a structured “program” representation.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representation can drive a deterministic model compiler path.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4160520"/>
            <a:ext cx="5242255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6400800" y="4160520"/>
            <a:ext cx="82296" cy="20574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6601968" y="432511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“deterministic” means here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01968" y="4727448"/>
            <a:ext cx="4858207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inputs → same grammar → same compiled artifacts.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propagate predictably, enabling targeted fixes.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 in this project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• Profilprojekt Anwendungsforschung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669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2296" cy="1828800"/>
          </a:xfrm>
          <a:prstGeom prst="rect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49808" y="162763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Grammar-aware dedup kernel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2029968"/>
            <a:ext cx="5285232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Cross-object grammar induction (token DAG).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SHA-512 content addressing + seekable access.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524225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82296" cy="1828800"/>
          </a:xfrm>
          <a:prstGeom prst="rect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601968" y="162763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RedcomponentDB storage engine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01968" y="2029968"/>
            <a:ext cx="4858207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store + indices + artifacts (tools/products).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semantics via HTTP 206 partial content.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56692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82296" cy="22402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749808" y="368503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Six-phase execution &amp; validation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4087368"/>
            <a:ext cx="5285232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contract (0–5), run layout, markers, reports.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ActiveMachinery groups machines (AM) and permissions.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3520440"/>
            <a:ext cx="5242255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6400800" y="3520440"/>
            <a:ext cx="82296" cy="2240280"/>
          </a:xfrm>
          <a:prstGeom prst="rect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601968" y="368503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Deterministic LLM compilation path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01968" y="4087368"/>
            <a:ext cx="4858207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cookbook → model artifacts.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attach trainable deltas (LoRA/QLoRA-style) as separate artifacts.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 model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is data + interpretation + references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= SHA-512(content) • P, D, 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760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175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777240" y="16276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A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⟨ id, P, D, R ⟩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5486400" cy="1082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content-derived identifier (SHA-512)</a:t>
            </a:r>
            <a:endParaRPr lang="en-US" sz="15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interpretation program (CELM-lang)</a:t>
            </a:r>
            <a:endParaRPr lang="en-US" sz="15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optional payload (literal bytes)</a:t>
            </a:r>
            <a:endParaRPr lang="en-US" sz="15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references/dependencies (token ids)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1463040"/>
            <a:ext cx="5150815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175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720840" y="1627632"/>
            <a:ext cx="46936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“Apfelbaum”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20840" y="2011680"/>
            <a:ext cx="469361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</a:t>
            </a:r>
            <a:r>
              <a:rPr lang="en-US" sz="1400" dirty="0">
                <a:solidFill>
                  <a:srgbClr val="0B0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SHA512("Apfelbaum")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P: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0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CONCAT(tau_1, tau_2)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D: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0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 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B0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SHA512("Apfel"), SHA512("baum") }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20840" y="4069080"/>
            <a:ext cx="469361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6720840" y="4069080"/>
            <a:ext cx="82296" cy="1828800"/>
          </a:xfrm>
          <a:prstGeom prst="rect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922008" y="4233672"/>
            <a:ext cx="43735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22008" y="4636008"/>
            <a:ext cx="4309567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form a DAG: reuse across objects becomes explicit.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graph can become a compilation IR for model artifacts.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induction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tokens become “grammar chunks”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 via CDC → background induction → cookbook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9130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21792" y="1764792"/>
            <a:ext cx="25450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seeding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9092" y="1888236"/>
            <a:ext cx="91440" cy="384048"/>
          </a:xfrm>
          <a:prstGeom prst="rightArrow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349676" y="1600200"/>
            <a:ext cx="269130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422828" y="1764792"/>
            <a:ext cx="25450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discovery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50128" y="1888236"/>
            <a:ext cx="91440" cy="384048"/>
          </a:xfrm>
          <a:prstGeom prst="rightArrow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6150712" y="1600200"/>
            <a:ext cx="269130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223864" y="1764792"/>
            <a:ext cx="25450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consolidation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51163" y="1888236"/>
            <a:ext cx="91440" cy="384048"/>
          </a:xfrm>
          <a:prstGeom prst="rightArrow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8951747" y="1600200"/>
            <a:ext cx="269130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9024899" y="1764792"/>
            <a:ext cx="25450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Cookbook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 rules)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56692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548640" y="2880360"/>
            <a:ext cx="82296" cy="30175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749808" y="304495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mechanics (high level)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9808" y="3447288"/>
            <a:ext cx="5285232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repeated substrings/pairs → introduce nonterminals (tokens).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stable rules across objects (edit resilience).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 when patterns share a skeleton but differ in parts.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2880360"/>
            <a:ext cx="5242255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6400800" y="2880360"/>
            <a:ext cx="82296" cy="3017520"/>
          </a:xfrm>
          <a:prstGeom prst="rect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6601968" y="304495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anchors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01968" y="3447288"/>
            <a:ext cx="4858207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(e.g., FastCDC) finds duplicates robust to shifts.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compression (e.g., Sequitur) captures hierarchy.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aims for *online, cross-object* grammar learning.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chunking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boundaries that follow learned structure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slides: chunking strategies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“chunking”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70332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82296" cy="3977640"/>
          </a:xfrm>
          <a:prstGeom prst="rect">
            <a:avLst/>
          </a:prstGeom>
          <a:solidFill>
            <a:srgbClr val="D7DFE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49808" y="20391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blocks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2441448"/>
            <a:ext cx="3319272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under shifts/insertions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predictable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1874520"/>
            <a:ext cx="3703320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343400" y="1874520"/>
            <a:ext cx="82296" cy="3977640"/>
          </a:xfrm>
          <a:prstGeom prst="rect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544568" y="20391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(FastCDC)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44568" y="2441448"/>
            <a:ext cx="3319272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Shift-resilient boundaries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 equality only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throughput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1874520"/>
            <a:ext cx="3504895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8138160" y="1874520"/>
            <a:ext cx="82296" cy="3977640"/>
          </a:xfrm>
          <a:prstGeom prst="rect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339328" y="2039112"/>
            <a:ext cx="3184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Grammar-aware (Eigentokens)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39328" y="2441448"/>
            <a:ext cx="3120847" cy="1025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are *rules*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Cross-object reuse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merge “similar” sequences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IR for compilation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080760"/>
            <a:ext cx="11094415" cy="5029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777240" y="619048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shift: from “bytes → chunks” to “bytes → rules (tokens) → chunks as DAG paths”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 chunking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strategy for online, cross-object rule discovery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slides: grammar chunking strategy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(conceptual)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212506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21792" y="1764792"/>
            <a:ext cx="197876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seed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(coarse)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82850" y="1874520"/>
            <a:ext cx="91440" cy="365760"/>
          </a:xfrm>
          <a:prstGeom prst="rightArrow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2783434" y="1600200"/>
            <a:ext cx="212506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2856586" y="1764792"/>
            <a:ext cx="197876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(candidate reuse)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17643" y="1874520"/>
            <a:ext cx="91440" cy="365760"/>
          </a:xfrm>
          <a:prstGeom prst="rightArrow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5018227" y="1600200"/>
            <a:ext cx="212506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091379" y="1764792"/>
            <a:ext cx="197876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mining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(pairs/phrases)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52437" y="1874520"/>
            <a:ext cx="91440" cy="365760"/>
          </a:xfrm>
          <a:prstGeom prst="rightArrow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7253021" y="1600200"/>
            <a:ext cx="212506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326173" y="1764792"/>
            <a:ext cx="197876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promotion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(stable)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387230" y="1874520"/>
            <a:ext cx="91440" cy="365760"/>
          </a:xfrm>
          <a:prstGeom prst="rightArrow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9487814" y="1600200"/>
            <a:ext cx="212506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9560966" y="1764792"/>
            <a:ext cx="197876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maps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(seekable)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2834640"/>
            <a:ext cx="566928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548640" y="2834640"/>
            <a:ext cx="82296" cy="3154680"/>
          </a:xfrm>
          <a:prstGeom prst="rect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749808" y="299923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that keep it tractable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9808" y="3401568"/>
            <a:ext cx="5285232" cy="1025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+ sampling for large corpora.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Min-support thresholds for rule creation.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locality-preserving rewrites.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recursion depth for reconstruction safety.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2834640"/>
            <a:ext cx="5242255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6400800" y="2834640"/>
            <a:ext cx="82296" cy="3154680"/>
          </a:xfrm>
          <a:prstGeom prst="rect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601968" y="299923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“seekable” means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01968" y="3401568"/>
            <a:ext cx="4858207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token-aligned byte-to-token maps.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Range reads reconstruct only needed token spans.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Cookbook rules remain immutable; references change.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RedcomponentDB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engine structure (token store + indices + artifacts)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RedcomponentDB: database substrate for Eigentokens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sketch (high level)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669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82296" cy="20116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49808" y="185623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primitives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2258568"/>
            <a:ext cx="5285232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records: ⟨id,P,D,R⟩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for id → token + reference counts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stores: tools/ and products/ with dimension paths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691640"/>
            <a:ext cx="52422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6400800" y="1691640"/>
            <a:ext cx="82296" cy="2011680"/>
          </a:xfrm>
          <a:prstGeom prst="rect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601968" y="185623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+ durability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01968" y="2258568"/>
            <a:ext cx="4858207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Range-reads via token-aligned mapping.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WAL/snapshots for crash safety.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Content-addressable dedupe via SHA-512.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9441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777240" y="404164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path expansion (concept)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4407408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3A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root/{tools|products}/D0..D9/.../name/version/quality/.../sha512/&lt;file&gt;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10637215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dimension order is used across caches, registries, and delivery outputs.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make artifacts immutable and deduplicable; manifests reference hashes.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access semantics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Range reads on compressed grammar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Seekable access via RFC 9110 range requests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669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82296" cy="1920240"/>
          </a:xfrm>
          <a:prstGeom prst="rect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49808" y="158191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984248"/>
            <a:ext cx="5285232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+ compress while keeping random access practical.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full-object decompression for partial reads.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524225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82296" cy="1920240"/>
          </a:xfrm>
          <a:prstGeom prst="rect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601968" y="158191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01968" y="1984248"/>
            <a:ext cx="4858207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Token-aligned “range maps” → token spans.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minimal token set for (offset,length).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109441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77240" y="374904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path schematic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069080"/>
            <a:ext cx="2039661" cy="9601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50392" y="4233672"/>
            <a:ext cx="189335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Range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bytes=a-b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26045" y="4357116"/>
            <a:ext cx="91440" cy="384048"/>
          </a:xfrm>
          <a:prstGeom prst="rightArrow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2926629" y="4069080"/>
            <a:ext cx="2039661" cy="9601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2999781" y="4233672"/>
            <a:ext cx="189335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map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75433" y="4357116"/>
            <a:ext cx="91440" cy="384048"/>
          </a:xfrm>
          <a:prstGeom prst="rightArrow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5076017" y="4069080"/>
            <a:ext cx="2039661" cy="9601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5149169" y="4233672"/>
            <a:ext cx="189335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tokens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 → record)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24822" y="4357116"/>
            <a:ext cx="91440" cy="384048"/>
          </a:xfrm>
          <a:prstGeom prst="rightArrow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7225406" y="4069080"/>
            <a:ext cx="2039661" cy="9601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7298558" y="4233672"/>
            <a:ext cx="189335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(reconstruct)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274211" y="4357116"/>
            <a:ext cx="91440" cy="384048"/>
          </a:xfrm>
          <a:prstGeom prst="rightArrow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9374795" y="4069080"/>
            <a:ext cx="2039661" cy="9601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9447947" y="4233672"/>
            <a:ext cx="189335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206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Content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validation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Six-phase contract + AM/ServiceRegistry integration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0–5 with markers and reports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757629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21792" y="1673352"/>
            <a:ext cx="161132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15413" y="1783080"/>
            <a:ext cx="91440" cy="365760"/>
          </a:xfrm>
          <a:prstGeom prst="rightArrow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2415997" y="1508760"/>
            <a:ext cx="1757629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2489149" y="1673352"/>
            <a:ext cx="161132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82770" y="1783080"/>
            <a:ext cx="91440" cy="365760"/>
          </a:xfrm>
          <a:prstGeom prst="rightArrow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283354" y="1508760"/>
            <a:ext cx="1757629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356506" y="1673352"/>
            <a:ext cx="161132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50128" y="1783080"/>
            <a:ext cx="91440" cy="365760"/>
          </a:xfrm>
          <a:prstGeom prst="rightArrow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6150712" y="1508760"/>
            <a:ext cx="1757629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223864" y="1673352"/>
            <a:ext cx="161132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17485" y="1783080"/>
            <a:ext cx="91440" cy="365760"/>
          </a:xfrm>
          <a:prstGeom prst="rightArrow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8018069" y="1508760"/>
            <a:ext cx="1757629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8091221" y="1673352"/>
            <a:ext cx="161132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84842" y="1783080"/>
            <a:ext cx="91440" cy="365760"/>
          </a:xfrm>
          <a:prstGeom prst="rightArrow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9885426" y="1508760"/>
            <a:ext cx="1757629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9958578" y="1673352"/>
            <a:ext cx="161132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2697480"/>
            <a:ext cx="56692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548640" y="2697480"/>
            <a:ext cx="82296" cy="32461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749808" y="286207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run layout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" y="3264408"/>
            <a:ext cx="5285232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&lt;cache&gt;/runs/&lt;run_id&gt;/{phaseN}/status.json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done.marker / failed.marker / log.ndjson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phase_N_validation.json, cross_compile_status.json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2697480"/>
            <a:ext cx="5242255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6400800" y="2697480"/>
            <a:ext cx="82296" cy="3246120"/>
          </a:xfrm>
          <a:prstGeom prst="rect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6601968" y="286207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ActiveMachinery (AM) idea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01968" y="3264408"/>
            <a:ext cx="4858207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groups machines by hardware/OS/performance + permissions.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is user-centric and layered on top of AM groups.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ServiceRegistry exposes nodes, stats, and capabilities.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contract details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Markers, status.json, and “done” per mode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slides: phases &amp; reports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6692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2296" cy="2423160"/>
          </a:xfrm>
          <a:prstGeom prst="rect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49808" y="162763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status.json (minimal fields)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2029968"/>
            <a:ext cx="5285232" cy="1025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phase, mode, run_id, start/end timestamps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signals: { git_ready, cmake_ready, interpreter_ready, ... }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digest: sha512 over inputs + outputs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success|failed|possible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5242255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82296" cy="242316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601968" y="162763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Mode-specific “done”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01968" y="2029968"/>
            <a:ext cx="4858207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artifact present + digest OK (+ optional smoke test)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managed: job accepted + registry confirms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service started + health endpoint OK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11094415" cy="18745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77240" y="42245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“compile”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526280"/>
            <a:ext cx="10637215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contracts create a reproducible “compiler toolchain” for data → grammar → model.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gating lets the system report partial capability instead of hard failing.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become comparable units (compare_benchmark) across branches/remotes.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compiler (ELM/CELM)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cookbook as compilation input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build path; optional trainable deltas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669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82296" cy="2377440"/>
          </a:xfrm>
          <a:prstGeom prst="rect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49808" y="158191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view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984248"/>
            <a:ext cx="5285232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grammar rules (tokens) + constraints.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model artifacts (modules, weights, indexes).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sampling needed for reproducibility.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524225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82296" cy="2377440"/>
          </a:xfrm>
          <a:prstGeom prst="rect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601968" y="158191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“auto-trainable” means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01968" y="1984248"/>
            <a:ext cx="4858207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small trainable adapters/deltas per task/domain.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base grammar deterministic; deltas are versioned artifacts.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drive selection and promotion.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94415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77240" y="404164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existing ML compilers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343400"/>
            <a:ext cx="10637215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TVM demonstrates an end-to-end compiler stack can optimize DL workloads across hardware backends.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Eigentokens reuses that idea, but shifts the input IR toward a data-derived grammar cookbook.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pipeline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grammar to deterministic model artifacts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slides: compiler aspect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artifact flow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757629" cy="9601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21792" y="1764792"/>
            <a:ext cx="161132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(objects)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15413" y="1888236"/>
            <a:ext cx="91440" cy="384048"/>
          </a:xfrm>
          <a:prstGeom prst="rightArrow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2415997" y="1600200"/>
            <a:ext cx="1757629" cy="9601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2489149" y="1764792"/>
            <a:ext cx="161132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(cookbook)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82770" y="1888236"/>
            <a:ext cx="91440" cy="384048"/>
          </a:xfrm>
          <a:prstGeom prst="rightArrow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4283354" y="1600200"/>
            <a:ext cx="1757629" cy="9601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356506" y="1764792"/>
            <a:ext cx="161132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(token DAG)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50128" y="1888236"/>
            <a:ext cx="91440" cy="384048"/>
          </a:xfrm>
          <a:prstGeom prst="rightArrow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6150712" y="1600200"/>
            <a:ext cx="1757629" cy="9601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223864" y="1764792"/>
            <a:ext cx="161132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17485" y="1888236"/>
            <a:ext cx="91440" cy="384048"/>
          </a:xfrm>
          <a:prstGeom prst="rightArrow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8018069" y="1600200"/>
            <a:ext cx="1757629" cy="9601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8091221" y="1764792"/>
            <a:ext cx="161132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(weights/index)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784842" y="1888236"/>
            <a:ext cx="91440" cy="384048"/>
          </a:xfrm>
          <a:prstGeom prst="rightArrow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9885426" y="1600200"/>
            <a:ext cx="1757629" cy="96012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9958578" y="1764792"/>
            <a:ext cx="161132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promote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2971800"/>
            <a:ext cx="566928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548640" y="2971800"/>
            <a:ext cx="82296" cy="29718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749808" y="313639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base artifacts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9808" y="3538728"/>
            <a:ext cx="5285232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modules generated from grammar (reproducible).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by SHA-512 digest and stored in products/.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Traceability: which rule produced which component.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2971800"/>
            <a:ext cx="5242255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6400800" y="2971800"/>
            <a:ext cx="82296" cy="2971800"/>
          </a:xfrm>
          <a:prstGeom prst="rect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6601968" y="313639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“trainable” layer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01968" y="3538728"/>
            <a:ext cx="4858207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LoRA/QLoRA-style deltas as separate artifacts.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Auto-tuning restricted to approved flag sets (Phase 5 policy).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uses compare_benchmark + benchmark profiles.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&amp; compare_benchmark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and promoting artifacts across sources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slides: benchmarking / compilation loop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669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82296" cy="2377440"/>
          </a:xfrm>
          <a:prstGeom prst="rect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49808" y="158191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compare_benchmark (XML)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984248"/>
            <a:ext cx="5285232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XML definition as canonical: &lt;compareBenchmark&gt;&lt;targets&gt;...&lt;/targets&gt;&lt;/compareBenchmark&gt;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local↔local, remote↔remote, local↔remote comparisons.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check verifies structure match (only impl differs).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524225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82296" cy="2377440"/>
          </a:xfrm>
          <a:prstGeom prst="rect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601968" y="158191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profile schema (AM)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01968" y="1984248"/>
            <a:ext cx="4858207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JSON schema describes function benchmarks.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stored in AM DB and linked to artifacts.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gating records partial capability.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109441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77240" y="406908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loop (Phase 5)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389120"/>
            <a:ext cx="2039661" cy="86868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50392" y="4553712"/>
            <a:ext cx="189335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candidate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26045" y="4649724"/>
            <a:ext cx="91440" cy="347472"/>
          </a:xfrm>
          <a:prstGeom prst="rightArrow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2926629" y="4389120"/>
            <a:ext cx="2039661" cy="86868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2999781" y="4553712"/>
            <a:ext cx="189335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suite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75433" y="4649724"/>
            <a:ext cx="91440" cy="347472"/>
          </a:xfrm>
          <a:prstGeom prst="rightArrow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5076017" y="4389120"/>
            <a:ext cx="2039661" cy="86868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5149169" y="4553712"/>
            <a:ext cx="189335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targets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24822" y="4649724"/>
            <a:ext cx="91440" cy="347472"/>
          </a:xfrm>
          <a:prstGeom prst="rightArrow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7225406" y="4389120"/>
            <a:ext cx="2039661" cy="86868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7298558" y="4553712"/>
            <a:ext cx="189335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AM DB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274211" y="4649724"/>
            <a:ext cx="91440" cy="347472"/>
          </a:xfrm>
          <a:prstGeom prst="rightArrow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9374795" y="4389120"/>
            <a:ext cx="2039661" cy="86868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9447947" y="4553712"/>
            <a:ext cx="189335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promote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 and against what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space, WA, tail latency, determinism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669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82296" cy="214884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49808" y="158191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984248"/>
            <a:ext cx="5285232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corpora (versions, refactors).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Text/log corpora (repeated patterns).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Binary/mixed datasets (robustness).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52422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82296" cy="2148840"/>
          </a:xfrm>
          <a:prstGeom prst="rect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601968" y="158191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01968" y="1984248"/>
            <a:ext cx="4858207" cy="1025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block + zstd (seekable)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FastCDC (+ zstd)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BGZF (block gzip) for seekability anchor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LSM-tree KV baseline for write amplification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11094415" cy="224028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77240" y="385876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160520"/>
            <a:ext cx="10637215" cy="1025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effectiveness (+25–40% vs FastCDC target)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tail latency: P95 within +15% baseline target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amplification: ~30% lower than LSM baseline target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Determinism: identical outputs across runs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done vs. next implementation steps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latest documentation sync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669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82296" cy="2331720"/>
          </a:xfrm>
          <a:prstGeom prst="rect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49808" y="158191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Solidified (docs + contracts)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984248"/>
            <a:ext cx="5285232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Six-phase validation docs and run layout.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 templating baseline for XML (includes/loops/conditionals).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policy: master=production, development=work.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52422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82296" cy="2331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601968" y="158191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/ missing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01968" y="1984248"/>
            <a:ext cx="4858207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BuildUtilities C++ interpreter + plugin loader pipeline (Phase 3).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AM/ServiceRegistry implementation (stats, groups, scheduling).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runtime (Helm + BlueGreen/Canary).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94415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77240" y="402336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implementation focus (recommended)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315968"/>
            <a:ext cx="10637215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interpreter skeleton + plugin ABI + sha512 verification.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0/1/2: run the first end-to-end validation on Windows + Linux.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planning: finalize accelerator families + pins (GPU/FPGA/TPU/CGRA).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break, and how we contain 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prototype: risks are expected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6692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82296" cy="2331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49808" y="158191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risks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984248"/>
            <a:ext cx="5285232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induction worst-case cost / metadata blow-up.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and seek overhead via too-small tokens.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drift for interpreter plugins across toolchains.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524225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82296" cy="2331720"/>
          </a:xfrm>
          <a:prstGeom prst="rect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601968" y="158191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01968" y="1984248"/>
            <a:ext cx="4858207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caps, sampling, and fallback to CDC/zstd.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size thresholds + locality-aware promotion.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ABI guards + manifest + digest verification.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94415" cy="20574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77240" y="402336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risk worth taking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4315968"/>
            <a:ext cx="10637215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successful, the system unifies storage + compilation + benchmarking under one contract.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enables stronger reproducibility, auditability, and targeted improvements.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758952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after this interim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6601968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working Phase 0–3 pipeline, then Phase 4 planning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669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82296" cy="2377440"/>
          </a:xfrm>
          <a:prstGeom prst="rect">
            <a:avLst/>
          </a:prstGeom>
          <a:solidFill>
            <a:srgbClr val="00A1DE"/>
          </a:solidFill>
          <a:ln w="12700">
            <a:solidFill>
              <a:srgbClr val="00A1D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49808" y="158191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A — Phase 0–3 demo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1984248"/>
            <a:ext cx="5285232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 ingested → cookbook rules created.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reads demonstrated on compressed grammar.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skeleton loads at least one plugin safely.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524225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82296" cy="2377440"/>
          </a:xfrm>
          <a:prstGeom prst="rect">
            <a:avLst/>
          </a:prstGeom>
          <a:solidFill>
            <a:srgbClr val="79B530"/>
          </a:solidFill>
          <a:ln w="12700">
            <a:solidFill>
              <a:srgbClr val="79B53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601968" y="158191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B — Benchmark loop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01968" y="1984248"/>
            <a:ext cx="4858207" cy="826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benchmark_function_profile schema used end-to-end.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compare_benchmark selects winners across targets.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DB stores profiles, machine stats, results.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6692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82296" cy="196596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749808" y="414223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C — Phase 4 scope lock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4544568"/>
            <a:ext cx="5285232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accelerator families: GPU/FPGA/TPU/CGRA + crypto accelerators.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and validation gates per platform.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3977640"/>
            <a:ext cx="5242255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6400800" y="3977640"/>
            <a:ext cx="82296" cy="1965960"/>
          </a:xfrm>
          <a:prstGeom prst="rect">
            <a:avLst/>
          </a:prstGeom>
          <a:solidFill>
            <a:srgbClr val="D7DFEA"/>
          </a:solidFill>
          <a:ln w="12700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601968" y="4142232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from the audience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01968" y="4544568"/>
            <a:ext cx="4858207" cy="626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on: phase contract clarity, chunking story, and evaluation plan.</a:t>
            </a:r>
            <a:endParaRPr lang="en-US" sz="14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to datasets and use-cases with extreme redundancy.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2798</Words>
  <Application>Microsoft Office PowerPoint</Application>
  <PresentationFormat>Breitbild</PresentationFormat>
  <Paragraphs>368</Paragraphs>
  <Slides>19</Slides>
  <Notes>19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TU Dresden / ScaDS.AI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Benjamin-Elias Probst</dc:creator>
  <cp:lastModifiedBy>Benjamin-Elias Probst</cp:lastModifiedBy>
  <cp:revision>3</cp:revision>
  <dcterms:created xsi:type="dcterms:W3CDTF">2026-01-08T23:46:10Z</dcterms:created>
  <dcterms:modified xsi:type="dcterms:W3CDTF">2026-01-09T09:05:27Z</dcterms:modified>
</cp:coreProperties>
</file>