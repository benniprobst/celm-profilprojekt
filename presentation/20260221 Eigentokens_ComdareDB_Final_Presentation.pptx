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TU Dresden logo: https://tu-dresden.de (site header)
- ScaDS.AI logo: https://scads.ai (site header)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 Range semantics: RFC 9110 (HTTP Semantics), incl. Range request handling. https://www.rfc-editor.org/rfc/rfc9110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FastCDC (CDC seeding example): https://www.usenix.org/conference/atc16/technical-sessions/presentation/xia
- Sequitur (grammar-based compression idea): https://www.cs.usfca.edu/~galles/visualization/Sequitur.html (background) and original paper: https://www.semanticscholar.org/paper/Identifying-Hierarchical-Structure-in-Sequences-Nevill-Manning-Witten/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 Range semantics: https://www.rfc-editor.org/rfc/rfc9110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FastCDC baseline: https://www.usenix.org/conference/atc16/technical-sessions/presentation/xia
- LSM-tree concept: https://link.springer.com/article/10.1007/BF01643174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e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69B4"/>
          </a:solidFill>
          <a:ln w="12700">
            <a:solidFill>
              <a:srgbClr val="0069B4"/>
            </a:solidFill>
            <a:prstDash val="solid"/>
          </a:ln>
        </p:spPr>
      </p:sp>
      <p:pic>
        <p:nvPicPr>
          <p:cNvPr id="3" name="Image 0" descr="/mnt/data/pptx_old_unz/ppt/media/image-1-1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252552"/>
            <a:ext cx="1325880" cy="637896"/>
          </a:xfrm>
          <a:prstGeom prst="rect">
            <a:avLst/>
          </a:prstGeom>
        </p:spPr>
      </p:pic>
      <p:pic>
        <p:nvPicPr>
          <p:cNvPr id="4" name="Image 1" descr="/mnt/data/pptx_old_unz/ppt/media/image-1-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275787"/>
            <a:ext cx="1325880" cy="582282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40080" y="100584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2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Eigentokens &amp; ComdareDB</a:t>
            </a:r>
            <a:endParaRPr lang="en-US" sz="3400" dirty="0"/>
          </a:p>
        </p:txBody>
      </p:sp>
      <p:sp>
        <p:nvSpPr>
          <p:cNvPr id="6" name="Text 2"/>
          <p:cNvSpPr/>
          <p:nvPr/>
        </p:nvSpPr>
        <p:spPr>
          <a:xfrm>
            <a:off x="640080" y="160020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Grammar-aware storage + deterministic compilation of domain LLMs (interim update)</a:t>
            </a:r>
            <a:endParaRPr lang="en-US" sz="1800" dirty="0"/>
          </a:p>
        </p:txBody>
      </p:sp>
      <p:sp>
        <p:nvSpPr>
          <p:cNvPr id="7" name="Shape 3"/>
          <p:cNvSpPr/>
          <p:nvPr/>
        </p:nvSpPr>
        <p:spPr>
          <a:xfrm>
            <a:off x="0" y="6720840"/>
            <a:ext cx="12191695" cy="73152"/>
          </a:xfrm>
          <a:prstGeom prst="rect">
            <a:avLst/>
          </a:prstGeom>
          <a:solidFill>
            <a:srgbClr val="CFE8F9"/>
          </a:solidFill>
          <a:ln w="12700">
            <a:solidFill>
              <a:srgbClr val="CFE8F9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640080" y="233172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79C7"/>
                </a:solidFill>
              </a:rPr>
              <a:t>Core message: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640080" y="2651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B2E4B"/>
                </a:solidFill>
              </a:rPr>
              <a:t>Treat storage as a grammar. Then compile models deterministically from the same grammar cookbook.</a:t>
            </a:r>
            <a:endParaRPr lang="en-US" sz="2400" dirty="0"/>
          </a:p>
        </p:txBody>
      </p:sp>
      <p:sp>
        <p:nvSpPr>
          <p:cNvPr id="10" name="Shape 6"/>
          <p:cNvSpPr/>
          <p:nvPr/>
        </p:nvSpPr>
        <p:spPr>
          <a:xfrm>
            <a:off x="640080" y="3794760"/>
            <a:ext cx="10972800" cy="2331720"/>
          </a:xfrm>
          <a:prstGeom prst="roundRect">
            <a:avLst/>
          </a:prstGeom>
          <a:solidFill>
            <a:srgbClr val="EAF4FF"/>
          </a:solidFill>
          <a:ln w="12700">
            <a:solidFill>
              <a:srgbClr val="D6E6F5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914400" y="3977640"/>
            <a:ext cx="104241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A24"/>
                </a:solidFill>
              </a:rPr>
              <a:t>Profilprojekt (TU Dresden) – Status Feb 2026
</a:t>
            </a:r>
            <a:pPr indent="0" marL="0">
              <a:buNone/>
            </a:pPr>
            <a:r>
              <a:rPr lang="en-US" sz="1600" dirty="0">
                <a:solidFill>
                  <a:srgbClr val="0F1A24"/>
                </a:solidFill>
              </a:rPr>
              <a:t>Benjamin-Elias Probst | Betreuer: Prof. Dr. Michael Färber (SCaDS.AI)
</a:t>
            </a:r>
            <a:pPr indent="0" marL="0">
              <a:buNone/>
            </a:pPr>
            <a:r>
              <a:rPr lang="en-US" sz="1600" dirty="0">
                <a:solidFill>
                  <a:srgbClr val="0F1A24"/>
                </a:solidFill>
              </a:rPr>
              <a:t>Focus: grammatical chunking, range-seekable reconstruction, compile path to ELM/CELM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868680"/>
            <a:ext cx="2560320" cy="365760"/>
          </a:xfrm>
          <a:prstGeom prst="roundRect">
            <a:avLst/>
          </a:prstGeom>
          <a:solidFill>
            <a:srgbClr val="EAF4FF"/>
          </a:solidFill>
          <a:ln w="12700">
            <a:solidFill>
              <a:srgbClr val="D6E6F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923544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79C7"/>
                </a:solidFill>
              </a:rPr>
              <a:t>Agenda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E4B"/>
                </a:solidFill>
              </a:rPr>
              <a:t>What we cover in 30 minutes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94360" y="6510528"/>
            <a:ext cx="10972800" cy="0"/>
          </a:xfrm>
          <a:prstGeom prst="line">
            <a:avLst/>
          </a:prstGeom>
          <a:noFill/>
          <a:ln w="12700">
            <a:solidFill>
              <a:srgbClr val="BBD7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565392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7B"/>
                </a:solidFill>
              </a:rPr>
              <a:t>Benjamin-Elias Probst | TU Dresden (SCaDS.AI) | Profilprojekt: Eigentokens / ComdareDB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40080" y="2011680"/>
            <a:ext cx="5577840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6F5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60120" y="224028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E4B"/>
                </a:solidFill>
              </a:rPr>
              <a:t>Part A — Core idea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60120" y="2606040"/>
            <a:ext cx="493776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300" dirty="0">
                <a:solidFill>
                  <a:srgbClr val="0F1A24"/>
                </a:solidFill>
              </a:rPr>
              <a:t>Motivation: why chunk-based dedup + LLM training are mismatched</a:t>
            </a:r>
            <a:endParaRPr lang="en-US" sz="1300" dirty="0"/>
          </a:p>
          <a:p>
            <a:pPr marL="228600" indent="-228600">
              <a:buSzPct val="100000"/>
              <a:buChar char="•"/>
            </a:pPr>
            <a:r>
              <a:rPr lang="en-US" sz="1300" dirty="0">
                <a:solidFill>
                  <a:srgbClr val="0F1A24"/>
                </a:solidFill>
              </a:rPr>
              <a:t>Eigentokens: token = data + interpreter program + refs</a:t>
            </a:r>
            <a:endParaRPr lang="en-US" sz="1300" dirty="0"/>
          </a:p>
          <a:p>
            <a:pPr marL="228600" indent="-228600">
              <a:buSzPct val="100000"/>
              <a:buChar char="•"/>
            </a:pPr>
            <a:r>
              <a:rPr lang="en-US" sz="1300" dirty="0">
                <a:solidFill>
                  <a:srgbClr val="0F1A24"/>
                </a:solidFill>
              </a:rPr>
              <a:t>Grammar cookbook as the shared substrate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46520" y="2011680"/>
            <a:ext cx="5166360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6F5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766560" y="2240280"/>
            <a:ext cx="4526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E4B"/>
                </a:solidFill>
              </a:rPr>
              <a:t>Part B — Architecture &amp; plan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766560" y="2606040"/>
            <a:ext cx="452628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300" dirty="0">
                <a:solidFill>
                  <a:srgbClr val="0F1A24"/>
                </a:solidFill>
              </a:rPr>
              <a:t>Grammatical chunking strategies (CDC seeding → grammar induction)</a:t>
            </a:r>
            <a:endParaRPr lang="en-US" sz="1300" dirty="0"/>
          </a:p>
          <a:p>
            <a:pPr marL="228600" indent="-228600">
              <a:buSzPct val="100000"/>
              <a:buChar char="•"/>
            </a:pPr>
            <a:r>
              <a:rPr lang="en-US" sz="1300" dirty="0">
                <a:solidFill>
                  <a:srgbClr val="0F1A24"/>
                </a:solidFill>
              </a:rPr>
              <a:t>Range-seekable storage &amp; B+ forest index</a:t>
            </a:r>
            <a:endParaRPr lang="en-US" sz="1300" dirty="0"/>
          </a:p>
          <a:p>
            <a:pPr marL="228600" indent="-228600">
              <a:buSzPct val="100000"/>
              <a:buChar char="•"/>
            </a:pPr>
            <a:r>
              <a:rPr lang="en-US" sz="1300" dirty="0">
                <a:solidFill>
                  <a:srgbClr val="0F1A24"/>
                </a:solidFill>
              </a:rPr>
              <a:t>Compile path: grammar → deterministic ELM/CELM artifacts</a:t>
            </a:r>
            <a:endParaRPr lang="en-US" sz="1300" dirty="0"/>
          </a:p>
          <a:p>
            <a:pPr marL="228600" indent="-228600">
              <a:buSzPct val="100000"/>
              <a:buChar char="•"/>
            </a:pPr>
            <a:r>
              <a:rPr lang="en-US" sz="1300" dirty="0">
                <a:solidFill>
                  <a:srgbClr val="0F1A24"/>
                </a:solidFill>
              </a:rPr>
              <a:t>Status, risks, next steps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868680"/>
            <a:ext cx="2560320" cy="365760"/>
          </a:xfrm>
          <a:prstGeom prst="roundRect">
            <a:avLst/>
          </a:prstGeom>
          <a:solidFill>
            <a:srgbClr val="EAF4FF"/>
          </a:solidFill>
          <a:ln w="12700">
            <a:solidFill>
              <a:srgbClr val="D6E6F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923544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79C7"/>
                </a:solidFill>
              </a:rPr>
              <a:t>Motivation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E4B"/>
                </a:solidFill>
              </a:rPr>
              <a:t>Why “store bytes” is not enough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94360" y="6510528"/>
            <a:ext cx="10972800" cy="0"/>
          </a:xfrm>
          <a:prstGeom prst="line">
            <a:avLst/>
          </a:prstGeom>
          <a:noFill/>
          <a:ln w="12700">
            <a:solidFill>
              <a:srgbClr val="BBD7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565392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7B"/>
                </a:solidFill>
              </a:rPr>
              <a:t>Benjamin-Elias Probst | TU Dresden (SCaDS.AI) | Profilprojekt: Eigentokens / ComdareDB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40080" y="2011680"/>
            <a:ext cx="10972800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6F5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60120" y="2240280"/>
            <a:ext cx="10332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E4B"/>
                </a:solidFill>
              </a:rPr>
              <a:t>Pain points we target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60120" y="2606040"/>
            <a:ext cx="103327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300" dirty="0">
                <a:solidFill>
                  <a:srgbClr val="0F1A24"/>
                </a:solidFill>
              </a:rPr>
              <a:t>Chunk deduplication misses cross-object structure (codebases, logs, datasets).</a:t>
            </a:r>
            <a:endParaRPr lang="en-US" sz="1300" dirty="0"/>
          </a:p>
          <a:p>
            <a:pPr marL="228600" indent="-228600">
              <a:buSzPct val="100000"/>
              <a:buChar char="•"/>
            </a:pPr>
            <a:r>
              <a:rPr lang="en-US" sz="1300" dirty="0">
                <a:solidFill>
                  <a:srgbClr val="0F1A24"/>
                </a:solidFill>
              </a:rPr>
              <a:t>LLM weights are opaque: hard to trace outputs back to source data.</a:t>
            </a:r>
            <a:endParaRPr lang="en-US" sz="1300" dirty="0"/>
          </a:p>
          <a:p>
            <a:pPr marL="228600" indent="-228600">
              <a:buSzPct val="100000"/>
              <a:buChar char="•"/>
            </a:pPr>
            <a:r>
              <a:rPr lang="en-US" sz="1300" dirty="0">
                <a:solidFill>
                  <a:srgbClr val="0F1A24"/>
                </a:solidFill>
              </a:rPr>
              <a:t>Updates are expensive: retrain / re-index / re-distribute.</a:t>
            </a:r>
            <a:endParaRPr lang="en-US" sz="1300" dirty="0"/>
          </a:p>
          <a:p>
            <a:pPr marL="228600" indent="-228600">
              <a:buSzPct val="100000"/>
              <a:buChar char="•"/>
            </a:pPr>
            <a:r>
              <a:rPr lang="en-US" sz="1300" dirty="0">
                <a:solidFill>
                  <a:srgbClr val="0F1A24"/>
                </a:solidFill>
              </a:rPr>
              <a:t>We want deterministic, inspectable, incrementally updatable knowledge artifacts.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868680"/>
            <a:ext cx="2560320" cy="365760"/>
          </a:xfrm>
          <a:prstGeom prst="roundRect">
            <a:avLst/>
          </a:prstGeom>
          <a:solidFill>
            <a:srgbClr val="EAF4FF"/>
          </a:solidFill>
          <a:ln w="12700">
            <a:solidFill>
              <a:srgbClr val="D6E6F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923544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79C7"/>
                </a:solidFill>
              </a:rPr>
              <a:t>Idea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E4B"/>
                </a:solidFill>
              </a:rPr>
              <a:t>One substrate: a grammar of the dataset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94360" y="6510528"/>
            <a:ext cx="10972800" cy="0"/>
          </a:xfrm>
          <a:prstGeom prst="line">
            <a:avLst/>
          </a:prstGeom>
          <a:noFill/>
          <a:ln w="12700">
            <a:solidFill>
              <a:srgbClr val="BBD7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565392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7B"/>
                </a:solidFill>
              </a:rPr>
              <a:t>Benjamin-Elias Probst | TU Dresden (SCaDS.AI) | Profilprojekt: Eigentokens / ComdareDB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40080" y="2148840"/>
            <a:ext cx="3337560" cy="822960"/>
          </a:xfrm>
          <a:prstGeom prst="roundRect">
            <a:avLst/>
          </a:prstGeom>
          <a:solidFill>
            <a:srgbClr val="EAF4FF"/>
          </a:solidFill>
          <a:ln w="12700">
            <a:solidFill>
              <a:srgbClr val="D6E6F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2258568"/>
            <a:ext cx="30632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E4B"/>
                </a:solidFill>
              </a:rPr>
              <a:t>Ingest objects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0B2E4B"/>
                </a:solidFill>
              </a:rPr>
              <a:t>(files / blobs)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069080" y="2331720"/>
            <a:ext cx="548640" cy="457200"/>
          </a:xfrm>
          <a:prstGeom prst="rightArrow">
            <a:avLst/>
          </a:prstGeom>
          <a:solidFill>
            <a:srgbClr val="0069B4"/>
          </a:solidFill>
          <a:ln w="12700">
            <a:solidFill>
              <a:srgbClr val="0069B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09160" y="2148840"/>
            <a:ext cx="3566160" cy="822960"/>
          </a:xfrm>
          <a:prstGeom prst="roundRect">
            <a:avLst/>
          </a:prstGeom>
          <a:solidFill>
            <a:srgbClr val="DFF0FF"/>
          </a:solidFill>
          <a:ln w="12700">
            <a:solidFill>
              <a:srgbClr val="D6E6F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0" y="2258568"/>
            <a:ext cx="32918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E4B"/>
                </a:solidFill>
              </a:rPr>
              <a:t>Grammar induction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0B2E4B"/>
                </a:solidFill>
              </a:rPr>
              <a:t>(cross-object)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366760" y="2331720"/>
            <a:ext cx="548640" cy="457200"/>
          </a:xfrm>
          <a:prstGeom prst="rightArrow">
            <a:avLst/>
          </a:prstGeom>
          <a:solidFill>
            <a:srgbClr val="0069B4"/>
          </a:solidFill>
          <a:ln w="12700">
            <a:solidFill>
              <a:srgbClr val="0069B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098280" y="2148840"/>
            <a:ext cx="2514600" cy="822960"/>
          </a:xfrm>
          <a:prstGeom prst="roundRect">
            <a:avLst/>
          </a:prstGeom>
          <a:solidFill>
            <a:srgbClr val="EAF4FF"/>
          </a:solidFill>
          <a:ln w="12700">
            <a:solidFill>
              <a:srgbClr val="D6E6F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235440" y="2258568"/>
            <a:ext cx="22402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E4B"/>
                </a:solidFill>
              </a:rPr>
              <a:t>Grammar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0B2E4B"/>
                </a:solidFill>
              </a:rPr>
              <a:t>cookbook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10012680" y="3063240"/>
            <a:ext cx="502920" cy="594360"/>
          </a:xfrm>
          <a:prstGeom prst="downArrow">
            <a:avLst/>
          </a:prstGeom>
          <a:solidFill>
            <a:srgbClr val="0069B4"/>
          </a:solidFill>
          <a:ln w="12700">
            <a:solidFill>
              <a:srgbClr val="0069B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355080" y="3063240"/>
            <a:ext cx="502920" cy="594360"/>
          </a:xfrm>
          <a:prstGeom prst="downArrow">
            <a:avLst/>
          </a:prstGeom>
          <a:solidFill>
            <a:srgbClr val="0069B4"/>
          </a:solidFill>
          <a:ln w="12700">
            <a:solidFill>
              <a:srgbClr val="0069B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" y="3886200"/>
            <a:ext cx="5394960" cy="2011680"/>
          </a:xfrm>
          <a:prstGeom prst="roundRect">
            <a:avLst/>
          </a:prstGeom>
          <a:solidFill>
            <a:srgbClr val="F5FBFF"/>
          </a:solidFill>
          <a:ln w="12700">
            <a:solidFill>
              <a:srgbClr val="D6E6F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3995928"/>
            <a:ext cx="5120640" cy="1792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2E4B"/>
                </a:solidFill>
              </a:rPr>
              <a:t>Storage kernel (ComdareDB)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B2E4B"/>
                </a:solidFill>
              </a:rPr>
              <a:t>• hash-indexed tokens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B2E4B"/>
                </a:solidFill>
              </a:rPr>
              <a:t>• range maps (HTTP Range)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B2E4B"/>
                </a:solidFill>
              </a:rPr>
              <a:t>• rebuild via VM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400800" y="3886200"/>
            <a:ext cx="5212080" cy="2011680"/>
          </a:xfrm>
          <a:prstGeom prst="roundRect">
            <a:avLst/>
          </a:prstGeom>
          <a:solidFill>
            <a:srgbClr val="F5FBFF"/>
          </a:solidFill>
          <a:ln w="12700">
            <a:solidFill>
              <a:srgbClr val="D6E6F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37960" y="3995928"/>
            <a:ext cx="4937760" cy="1792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2E4B"/>
                </a:solidFill>
              </a:rPr>
              <a:t>Compiler path (ELM/CELM)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B2E4B"/>
                </a:solidFill>
              </a:rPr>
              <a:t>• modules from rules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B2E4B"/>
                </a:solidFill>
              </a:rPr>
              <a:t>• deterministic weights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B2E4B"/>
                </a:solidFill>
              </a:rPr>
              <a:t>• traceable outputs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868680"/>
            <a:ext cx="2560320" cy="365760"/>
          </a:xfrm>
          <a:prstGeom prst="roundRect">
            <a:avLst/>
          </a:prstGeom>
          <a:solidFill>
            <a:srgbClr val="EAF4FF"/>
          </a:solidFill>
          <a:ln w="12700">
            <a:solidFill>
              <a:srgbClr val="D6E6F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923544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79C7"/>
                </a:solidFill>
              </a:rPr>
              <a:t>Core abstraction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E4B"/>
                </a:solidFill>
              </a:rPr>
              <a:t>Eigentoken = data + interpreter program + references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94360" y="6510528"/>
            <a:ext cx="10972800" cy="0"/>
          </a:xfrm>
          <a:prstGeom prst="line">
            <a:avLst/>
          </a:prstGeom>
          <a:noFill/>
          <a:ln w="12700">
            <a:solidFill>
              <a:srgbClr val="BBD7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565392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7B"/>
                </a:solidFill>
              </a:rPr>
              <a:t>Benjamin-Elias Probst | TU Dresden (SCaDS.AI) | Profilprojekt: Eigentokens / ComdareDB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19659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79C7"/>
                </a:solidFill>
              </a:rPr>
              <a:t>Formal view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0080" y="2331720"/>
            <a:ext cx="109728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6F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251460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2E4B"/>
                </a:solidFill>
              </a:rPr>
              <a:t>T = ⟨ id, P, D, R ⟩</a:t>
            </a:r>
            <a:endParaRPr lang="en-US" sz="3400" dirty="0"/>
          </a:p>
        </p:txBody>
      </p:sp>
      <p:sp>
        <p:nvSpPr>
          <p:cNvPr id="10" name="Shape 8"/>
          <p:cNvSpPr/>
          <p:nvPr/>
        </p:nvSpPr>
        <p:spPr>
          <a:xfrm>
            <a:off x="640080" y="3703320"/>
            <a:ext cx="10972800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6F5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960120" y="3931920"/>
            <a:ext cx="10332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E4B"/>
                </a:solidFill>
              </a:rPr>
              <a:t>Interpretation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60120" y="4297680"/>
            <a:ext cx="10332720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300" dirty="0">
                <a:solidFill>
                  <a:srgbClr val="0F1A24"/>
                </a:solidFill>
              </a:rPr>
              <a:t>id: SHA-512 content-derived identifier</a:t>
            </a:r>
            <a:endParaRPr lang="en-US" sz="1300" dirty="0"/>
          </a:p>
          <a:p>
            <a:pPr marL="228600" indent="-228600">
              <a:buSzPct val="100000"/>
              <a:buChar char="•"/>
            </a:pPr>
            <a:r>
              <a:rPr lang="en-US" sz="1300" dirty="0">
                <a:solidFill>
                  <a:srgbClr val="0F1A24"/>
                </a:solidFill>
              </a:rPr>
              <a:t>P: interpretation program (CELM-lang / VM ops)</a:t>
            </a:r>
            <a:endParaRPr lang="en-US" sz="1300" dirty="0"/>
          </a:p>
          <a:p>
            <a:pPr marL="228600" indent="-228600">
              <a:buSzPct val="100000"/>
              <a:buChar char="•"/>
            </a:pPr>
            <a:r>
              <a:rPr lang="en-US" sz="1300" dirty="0">
                <a:solidFill>
                  <a:srgbClr val="0F1A24"/>
                </a:solidFill>
              </a:rPr>
              <a:t>D: optional raw payload (only for irreducible literals)</a:t>
            </a:r>
            <a:endParaRPr lang="en-US" sz="1300" dirty="0"/>
          </a:p>
          <a:p>
            <a:pPr marL="228600" indent="-228600">
              <a:buSzPct val="100000"/>
              <a:buChar char="•"/>
            </a:pPr>
            <a:r>
              <a:rPr lang="en-US" sz="1300" dirty="0">
                <a:solidFill>
                  <a:srgbClr val="0F1A24"/>
                </a:solidFill>
              </a:rPr>
              <a:t>R: references (dependencies) → forms a DAG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868680"/>
            <a:ext cx="2560320" cy="365760"/>
          </a:xfrm>
          <a:prstGeom prst="roundRect">
            <a:avLst/>
          </a:prstGeom>
          <a:solidFill>
            <a:srgbClr val="EAF4FF"/>
          </a:solidFill>
          <a:ln w="12700">
            <a:solidFill>
              <a:srgbClr val="D6E6F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923544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79C7"/>
                </a:solidFill>
              </a:rPr>
              <a:t>Grammatical chunking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E4B"/>
                </a:solidFill>
              </a:rPr>
              <a:t>From bytes → stable rules (cross-object)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94360" y="6510528"/>
            <a:ext cx="10972800" cy="0"/>
          </a:xfrm>
          <a:prstGeom prst="line">
            <a:avLst/>
          </a:prstGeom>
          <a:noFill/>
          <a:ln w="12700">
            <a:solidFill>
              <a:srgbClr val="BBD7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565392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7B"/>
                </a:solidFill>
              </a:rPr>
              <a:t>Benjamin-Elias Probst | TU Dresden (SCaDS.AI) | Profilprojekt: Eigentokens / ComdareDB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19659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79C7"/>
                </a:solidFill>
              </a:rPr>
              <a:t>Three-layer strategy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0080" y="2331720"/>
            <a:ext cx="10972800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6F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51460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E4B"/>
                </a:solidFill>
              </a:rPr>
              <a:t>L0  Seed (CDC)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14400" y="3822192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E4B"/>
                </a:solidFill>
              </a:rPr>
              <a:t>L1  Grammar induction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14400" y="513892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E4B"/>
                </a:solidFill>
              </a:rPr>
              <a:t>L2  Rule stabilization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886200" y="2487168"/>
            <a:ext cx="7269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A24"/>
                </a:solidFill>
              </a:rPr>
              <a:t>Fast boundaries for ingest + quick dedup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F1A24"/>
                </a:solidFill>
              </a:rPr>
              <a:t>• content-defined breakpoints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F1A24"/>
                </a:solidFill>
              </a:rPr>
              <a:t>• provisional tokens with D=raw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886200" y="3794760"/>
            <a:ext cx="7269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A24"/>
                </a:solidFill>
              </a:rPr>
              <a:t>Discover repeated substrings across all objects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F1A24"/>
                </a:solidFill>
              </a:rPr>
              <a:t>• Sequitur/Re-Pair-like replacement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F1A24"/>
                </a:solidFill>
              </a:rPr>
              <a:t>• create composite tokens (P=CONCAT, D=null)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886200" y="5102352"/>
            <a:ext cx="7269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A24"/>
                </a:solidFill>
              </a:rPr>
              <a:t>Prefer rules stable under edits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F1A24"/>
                </a:solidFill>
              </a:rPr>
              <a:t>• merge near-duplicates with parametrization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F1A24"/>
                </a:solidFill>
              </a:rPr>
              <a:t>• maintain range maps + reference integrity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868680"/>
            <a:ext cx="2560320" cy="365760"/>
          </a:xfrm>
          <a:prstGeom prst="roundRect">
            <a:avLst/>
          </a:prstGeom>
          <a:solidFill>
            <a:srgbClr val="EAF4FF"/>
          </a:solidFill>
          <a:ln w="12700">
            <a:solidFill>
              <a:srgbClr val="D6E6F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923544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79C7"/>
                </a:solidFill>
              </a:rPr>
              <a:t>Grammatical chunking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E4B"/>
                </a:solidFill>
              </a:rPr>
              <a:t>Example: bytes → tokens → higher-level rules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94360" y="6510528"/>
            <a:ext cx="10972800" cy="0"/>
          </a:xfrm>
          <a:prstGeom prst="line">
            <a:avLst/>
          </a:prstGeom>
          <a:noFill/>
          <a:ln w="12700">
            <a:solidFill>
              <a:srgbClr val="BBD7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565392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7B"/>
                </a:solidFill>
              </a:rPr>
              <a:t>Benjamin-Elias Probst | TU Dresden (SCaDS.AI) | Profilprojekt: Eigentokens / ComdareDB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1965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79C7"/>
                </a:solidFill>
              </a:rPr>
              <a:t>Input (two objects)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0080" y="2331720"/>
            <a:ext cx="539496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6F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2514600"/>
            <a:ext cx="4937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A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Obj A:  ... "Apfel" + "baum" ...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F1A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Obj B:  ... "Apfel" + "saft" ...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0" y="1965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79C7"/>
                </a:solidFill>
              </a:rPr>
              <a:t>Rules discovered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400800" y="2331720"/>
            <a:ext cx="521208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6F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29400" y="2487168"/>
            <a:ext cx="4754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A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τ1 = "Apfel"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F1A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τ2 = "baum"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F1A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τ3 = CONCAT(τ1, τ2)  // "Apfelbaum"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F1A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τ4 = "saft"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F1A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τ5 = CONCAT(τ1, τ4)  // "Apfelsaft"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4160520"/>
            <a:ext cx="10972800" cy="2103120"/>
          </a:xfrm>
          <a:prstGeom prst="roundRect">
            <a:avLst/>
          </a:prstGeom>
          <a:solidFill>
            <a:srgbClr val="EAF4FF"/>
          </a:solidFill>
          <a:ln w="12700">
            <a:solidFill>
              <a:srgbClr val="D6E6F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4343400"/>
            <a:ext cx="10424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E4B"/>
                </a:solidFill>
              </a:rPr>
              <a:t>What we get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14400" y="4681728"/>
            <a:ext cx="104241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A24"/>
                </a:solidFill>
              </a:rPr>
              <a:t>• Dedup beyond identical chunks: shared substructures become first-class tokens
</a:t>
            </a:r>
            <a:pPr indent="0" marL="0">
              <a:buNone/>
            </a:pPr>
            <a:r>
              <a:rPr lang="en-US" sz="1400" dirty="0">
                <a:solidFill>
                  <a:srgbClr val="0F1A24"/>
                </a:solidFill>
              </a:rPr>
              <a:t>• Cross-object reuse: τ1 reused in many words/files
</a:t>
            </a:r>
            <a:pPr indent="0" marL="0">
              <a:buNone/>
            </a:pPr>
            <a:r>
              <a:rPr lang="en-US" sz="1400" dirty="0">
                <a:solidFill>
                  <a:srgbClr val="0F1A24"/>
                </a:solidFill>
              </a:rPr>
              <a:t>• Deterministic reconstruction: replay programs P over references R
</a:t>
            </a:r>
            <a:pPr indent="0" marL="0">
              <a:buNone/>
            </a:pPr>
            <a:r>
              <a:rPr lang="en-US" sz="1400" dirty="0">
                <a:solidFill>
                  <a:srgbClr val="0F1A24"/>
                </a:solidFill>
              </a:rPr>
              <a:t>• Compile hooks: the same rules can parameterize model modules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868680"/>
            <a:ext cx="2560320" cy="365760"/>
          </a:xfrm>
          <a:prstGeom prst="roundRect">
            <a:avLst/>
          </a:prstGeom>
          <a:solidFill>
            <a:srgbClr val="EAF4FF"/>
          </a:solidFill>
          <a:ln w="12700">
            <a:solidFill>
              <a:srgbClr val="D6E6F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923544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79C7"/>
                </a:solidFill>
              </a:rPr>
              <a:t>Storage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E4B"/>
                </a:solidFill>
              </a:rPr>
              <a:t>Hash-indexed token store + range-seekable access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94360" y="6510528"/>
            <a:ext cx="10972800" cy="0"/>
          </a:xfrm>
          <a:prstGeom prst="line">
            <a:avLst/>
          </a:prstGeom>
          <a:noFill/>
          <a:ln w="12700">
            <a:solidFill>
              <a:srgbClr val="BBD7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565392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7B"/>
                </a:solidFill>
              </a:rPr>
              <a:t>Benjamin-Elias Probst | TU Dresden (SCaDS.AI) | Profilprojekt: Eigentokens / ComdareDB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40080" y="2011680"/>
            <a:ext cx="5394960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6F5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60120" y="224028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E4B"/>
                </a:solidFill>
              </a:rPr>
              <a:t>B+ forest (non-strict)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60120" y="2606040"/>
            <a:ext cx="475488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300" dirty="0">
                <a:solidFill>
                  <a:srgbClr val="0F1A24"/>
                </a:solidFill>
              </a:rPr>
              <a:t>Key: SHA-512 token id → content-addressable dedup</a:t>
            </a:r>
            <a:endParaRPr lang="en-US" sz="1300" dirty="0"/>
          </a:p>
          <a:p>
            <a:pPr marL="228600" indent="-228600">
              <a:buSzPct val="100000"/>
              <a:buChar char="•"/>
            </a:pPr>
            <a:r>
              <a:rPr lang="en-US" sz="1300" dirty="0">
                <a:solidFill>
                  <a:srgbClr val="0F1A24"/>
                </a:solidFill>
              </a:rPr>
              <a:t>Leafs store D or (P + R)</a:t>
            </a:r>
            <a:endParaRPr lang="en-US" sz="1300" dirty="0"/>
          </a:p>
          <a:p>
            <a:pPr marL="228600" indent="-228600">
              <a:buSzPct val="100000"/>
              <a:buChar char="•"/>
            </a:pPr>
            <a:r>
              <a:rPr lang="en-US" sz="1300" dirty="0">
                <a:solidFill>
                  <a:srgbClr val="0F1A24"/>
                </a:solidFill>
              </a:rPr>
              <a:t>Internal nodes can store usage stats (for heuristics)</a:t>
            </a:r>
            <a:endParaRPr lang="en-US" sz="1300" dirty="0"/>
          </a:p>
          <a:p>
            <a:pPr marL="228600" indent="-228600">
              <a:buSzPct val="100000"/>
              <a:buChar char="•"/>
            </a:pPr>
            <a:r>
              <a:rPr lang="en-US" sz="1300" dirty="0">
                <a:solidFill>
                  <a:srgbClr val="0F1A24"/>
                </a:solidFill>
              </a:rPr>
              <a:t>Allows topic/domain partitioning (forest)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46520" y="2011680"/>
            <a:ext cx="5166360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6F5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766560" y="2240280"/>
            <a:ext cx="4526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E4B"/>
                </a:solidFill>
              </a:rPr>
              <a:t>Range mapping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766560" y="2606040"/>
            <a:ext cx="452628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300" dirty="0">
                <a:solidFill>
                  <a:srgbClr val="0F1A24"/>
                </a:solidFill>
              </a:rPr>
              <a:t>Maintain mapping: logical byte range → token sequence</a:t>
            </a:r>
            <a:endParaRPr lang="en-US" sz="1300" dirty="0"/>
          </a:p>
          <a:p>
            <a:pPr marL="228600" indent="-228600">
              <a:buSzPct val="100000"/>
              <a:buChar char="•"/>
            </a:pPr>
            <a:r>
              <a:rPr lang="en-US" sz="1300" dirty="0">
                <a:solidFill>
                  <a:srgbClr val="0F1A24"/>
                </a:solidFill>
              </a:rPr>
              <a:t>Serve partial reads (HTTP Range) via selective reconstruction</a:t>
            </a:r>
            <a:endParaRPr lang="en-US" sz="1300" dirty="0"/>
          </a:p>
          <a:p>
            <a:pPr marL="228600" indent="-228600">
              <a:buSzPct val="100000"/>
              <a:buChar char="•"/>
            </a:pPr>
            <a:r>
              <a:rPr lang="en-US" sz="1300" dirty="0">
                <a:solidFill>
                  <a:srgbClr val="0F1A24"/>
                </a:solidFill>
              </a:rPr>
              <a:t>Cache hot ranges and token expansions</a:t>
            </a:r>
            <a:endParaRPr lang="en-US" sz="1300" dirty="0"/>
          </a:p>
          <a:p>
            <a:pPr marL="228600" indent="-228600">
              <a:buSzPct val="100000"/>
              <a:buChar char="•"/>
            </a:pPr>
            <a:r>
              <a:rPr lang="en-US" sz="1300" dirty="0">
                <a:solidFill>
                  <a:srgbClr val="0F1A24"/>
                </a:solidFill>
              </a:rPr>
              <a:t>Aim: P95 read latency ≤ +15% vs uncompressed baseline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868680"/>
            <a:ext cx="2560320" cy="365760"/>
          </a:xfrm>
          <a:prstGeom prst="roundRect">
            <a:avLst/>
          </a:prstGeom>
          <a:solidFill>
            <a:srgbClr val="EAF4FF"/>
          </a:solidFill>
          <a:ln w="12700">
            <a:solidFill>
              <a:srgbClr val="D6E6F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923544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79C7"/>
                </a:solidFill>
              </a:rPr>
              <a:t>Pipeline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E4B"/>
                </a:solidFill>
              </a:rPr>
              <a:t>Separate low-latency writes from heavy grammar work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94360" y="6510528"/>
            <a:ext cx="10972800" cy="0"/>
          </a:xfrm>
          <a:prstGeom prst="line">
            <a:avLst/>
          </a:prstGeom>
          <a:noFill/>
          <a:ln w="12700">
            <a:solidFill>
              <a:srgbClr val="BBD7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565392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7B"/>
                </a:solidFill>
              </a:rPr>
              <a:t>Benjamin-Elias Probst | TU Dresden (SCaDS.AI) | Profilprojekt: Eigentokens / ComdareDB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31520" y="2286000"/>
            <a:ext cx="3383280" cy="914400"/>
          </a:xfrm>
          <a:prstGeom prst="roundRect">
            <a:avLst/>
          </a:prstGeom>
          <a:solidFill>
            <a:srgbClr val="EAF4FF"/>
          </a:solidFill>
          <a:ln w="12700">
            <a:solidFill>
              <a:srgbClr val="D6E6F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2395728"/>
            <a:ext cx="310896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E4B"/>
                </a:solidFill>
              </a:rPr>
              <a:t>Stage 1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0B2E4B"/>
                </a:solidFill>
              </a:rPr>
              <a:t>Immediate ingest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206240" y="2505456"/>
            <a:ext cx="594360" cy="502920"/>
          </a:xfrm>
          <a:prstGeom prst="rightArrow">
            <a:avLst/>
          </a:prstGeom>
          <a:solidFill>
            <a:srgbClr val="0069B4"/>
          </a:solidFill>
          <a:ln w="12700">
            <a:solidFill>
              <a:srgbClr val="0069B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92040" y="2286000"/>
            <a:ext cx="3383280" cy="914400"/>
          </a:xfrm>
          <a:prstGeom prst="roundRect">
            <a:avLst/>
          </a:prstGeom>
          <a:solidFill>
            <a:srgbClr val="DFF0FF"/>
          </a:solidFill>
          <a:ln w="12700">
            <a:solidFill>
              <a:srgbClr val="D6E6F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0" y="2395728"/>
            <a:ext cx="310896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E4B"/>
                </a:solidFill>
              </a:rPr>
              <a:t>Stage 2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0B2E4B"/>
                </a:solidFill>
              </a:rPr>
              <a:t>Background induction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366760" y="2505456"/>
            <a:ext cx="594360" cy="502920"/>
          </a:xfrm>
          <a:prstGeom prst="rightArrow">
            <a:avLst/>
          </a:prstGeom>
          <a:solidFill>
            <a:srgbClr val="0069B4"/>
          </a:solidFill>
          <a:ln w="12700">
            <a:solidFill>
              <a:srgbClr val="0069B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098280" y="2286000"/>
            <a:ext cx="2514600" cy="914400"/>
          </a:xfrm>
          <a:prstGeom prst="roundRect">
            <a:avLst/>
          </a:prstGeom>
          <a:solidFill>
            <a:srgbClr val="EAF4FF"/>
          </a:solidFill>
          <a:ln w="12700">
            <a:solidFill>
              <a:srgbClr val="D6E6F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235440" y="2395728"/>
            <a:ext cx="224028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E4B"/>
                </a:solidFill>
              </a:rPr>
              <a:t>Stage 3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0B2E4B"/>
                </a:solidFill>
              </a:rPr>
              <a:t>Index optimize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40080" y="3520440"/>
            <a:ext cx="10972800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6F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3749040"/>
            <a:ext cx="10424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E4B"/>
                </a:solidFill>
              </a:rPr>
              <a:t>Key properties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14400" y="4069080"/>
            <a:ext cx="104241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A24"/>
                </a:solidFill>
              </a:rPr>
              <a:t>• Stage 1 commits fast: chunk + hash + insert provisional tokens
</a:t>
            </a:r>
            <a:pPr indent="0" marL="0">
              <a:buNone/>
            </a:pPr>
            <a:r>
              <a:rPr lang="en-US" sz="1400" dirty="0">
                <a:solidFill>
                  <a:srgbClr val="0F1A24"/>
                </a:solidFill>
              </a:rPr>
              <a:t>• Stage 2 refines representation: creates higher-level grammar rules
</a:t>
            </a:r>
            <a:pPr indent="0" marL="0">
              <a:buNone/>
            </a:pPr>
            <a:r>
              <a:rPr lang="en-US" sz="1400" dirty="0">
                <a:solidFill>
                  <a:srgbClr val="0F1A24"/>
                </a:solidFill>
              </a:rPr>
              <a:t>• Stage 3 compaction: drop obsolete raw chunks, rebalance trees, snapshot
</a:t>
            </a:r>
            <a:pPr indent="0" marL="0">
              <a:buNone/>
            </a:pPr>
            <a:r>
              <a:rPr lang="en-US" sz="1400" dirty="0">
                <a:solidFill>
                  <a:srgbClr val="0F1A24"/>
                </a:solidFill>
              </a:rPr>
              <a:t>• Read path is always correct; internal structure becomes better over time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868680"/>
            <a:ext cx="2560320" cy="365760"/>
          </a:xfrm>
          <a:prstGeom prst="roundRect">
            <a:avLst/>
          </a:prstGeom>
          <a:solidFill>
            <a:srgbClr val="EAF4FF"/>
          </a:solidFill>
          <a:ln w="12700">
            <a:solidFill>
              <a:srgbClr val="D6E6F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923544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79C7"/>
                </a:solidFill>
              </a:rPr>
              <a:t>CELM-lang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E4B"/>
                </a:solidFill>
              </a:rPr>
              <a:t>Interpretation programs as a meta-language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94360" y="6510528"/>
            <a:ext cx="10972800" cy="0"/>
          </a:xfrm>
          <a:prstGeom prst="line">
            <a:avLst/>
          </a:prstGeom>
          <a:noFill/>
          <a:ln w="12700">
            <a:solidFill>
              <a:srgbClr val="BBD7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565392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7B"/>
                </a:solidFill>
              </a:rPr>
              <a:t>Benjamin-Elias Probst | TU Dresden (SCaDS.AI) | Profilprojekt: Eigentokens / ComdareDB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40080" y="2011680"/>
            <a:ext cx="10972800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6F5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60120" y="2240280"/>
            <a:ext cx="10332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E4B"/>
                </a:solidFill>
              </a:rPr>
              <a:t>Why a meta-language?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60120" y="2606040"/>
            <a:ext cx="103327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300" dirty="0">
                <a:solidFill>
                  <a:srgbClr val="0F1A24"/>
                </a:solidFill>
              </a:rPr>
              <a:t>Tokens are a binary description language; programs P explain how to rebuild/transform.</a:t>
            </a:r>
            <a:endParaRPr lang="en-US" sz="1300" dirty="0"/>
          </a:p>
          <a:p>
            <a:pPr marL="228600" indent="-228600">
              <a:buSzPct val="100000"/>
              <a:buChar char="•"/>
            </a:pPr>
            <a:r>
              <a:rPr lang="en-US" sz="1300" dirty="0">
                <a:solidFill>
                  <a:srgbClr val="0F1A24"/>
                </a:solidFill>
              </a:rPr>
              <a:t>CELM-lang adds compositional ops: CONCAT, SPLIT, MAP, MATCH, etc.</a:t>
            </a:r>
            <a:endParaRPr lang="en-US" sz="1300" dirty="0"/>
          </a:p>
          <a:p>
            <a:pPr marL="228600" indent="-228600">
              <a:buSzPct val="100000"/>
              <a:buChar char="•"/>
            </a:pPr>
            <a:r>
              <a:rPr lang="en-US" sz="1300" dirty="0">
                <a:solidFill>
                  <a:srgbClr val="0F1A24"/>
                </a:solidFill>
              </a:rPr>
              <a:t>Rules can be recursive and parameterized (families of patterns).</a:t>
            </a:r>
            <a:endParaRPr lang="en-US" sz="1300" dirty="0"/>
          </a:p>
          <a:p>
            <a:pPr marL="228600" indent="-228600">
              <a:buSzPct val="100000"/>
              <a:buChar char="•"/>
            </a:pPr>
            <a:r>
              <a:rPr lang="en-US" sz="1300" dirty="0">
                <a:solidFill>
                  <a:srgbClr val="0F1A24"/>
                </a:solidFill>
              </a:rPr>
              <a:t>Open-world: new ops can be added without rewriting the C++ core (VM extension).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868680"/>
            <a:ext cx="2560320" cy="365760"/>
          </a:xfrm>
          <a:prstGeom prst="roundRect">
            <a:avLst/>
          </a:prstGeom>
          <a:solidFill>
            <a:srgbClr val="EAF4FF"/>
          </a:solidFill>
          <a:ln w="12700">
            <a:solidFill>
              <a:srgbClr val="D6E6F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923544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79C7"/>
                </a:solidFill>
              </a:rPr>
              <a:t>Compilation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E4B"/>
                </a:solidFill>
              </a:rPr>
              <a:t>From grammar cookbook to deterministic ELM modules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94360" y="6510528"/>
            <a:ext cx="10972800" cy="0"/>
          </a:xfrm>
          <a:prstGeom prst="line">
            <a:avLst/>
          </a:prstGeom>
          <a:noFill/>
          <a:ln w="12700">
            <a:solidFill>
              <a:srgbClr val="BBD7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565392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7B"/>
                </a:solidFill>
              </a:rPr>
              <a:t>Benjamin-Elias Probst | TU Dresden (SCaDS.AI) | Profilprojekt: Eigentokens / ComdareDB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19659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79C7"/>
                </a:solidFill>
              </a:rPr>
              <a:t>Conceptual compilation pipeline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77240" y="2331720"/>
            <a:ext cx="3154680" cy="868680"/>
          </a:xfrm>
          <a:prstGeom prst="roundRect">
            <a:avLst/>
          </a:prstGeom>
          <a:solidFill>
            <a:srgbClr val="EAF4FF"/>
          </a:solidFill>
          <a:ln w="12700">
            <a:solidFill>
              <a:srgbClr val="D6E6F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441448"/>
            <a:ext cx="2880360" cy="649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E4B"/>
                </a:solidFill>
              </a:rPr>
              <a:t>Grammar cookbook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0B2E4B"/>
                </a:solidFill>
              </a:rPr>
              <a:t>(tokens + rules)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069080" y="2523744"/>
            <a:ext cx="594360" cy="502920"/>
          </a:xfrm>
          <a:prstGeom prst="rightArrow">
            <a:avLst/>
          </a:prstGeom>
          <a:solidFill>
            <a:srgbClr val="0069B4"/>
          </a:solidFill>
          <a:ln w="12700">
            <a:solidFill>
              <a:srgbClr val="0069B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00600" y="2331720"/>
            <a:ext cx="3611880" cy="868680"/>
          </a:xfrm>
          <a:prstGeom prst="roundRect">
            <a:avLst/>
          </a:prstGeom>
          <a:solidFill>
            <a:srgbClr val="DFF0FF"/>
          </a:solidFill>
          <a:ln w="12700">
            <a:solidFill>
              <a:srgbClr val="D6E6F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37760" y="2441448"/>
            <a:ext cx="3337560" cy="649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E4B"/>
                </a:solidFill>
              </a:rPr>
              <a:t>Module synthesis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0B2E4B"/>
                </a:solidFill>
              </a:rPr>
              <a:t>(rule → component)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503920" y="2523744"/>
            <a:ext cx="594360" cy="502920"/>
          </a:xfrm>
          <a:prstGeom prst="rightArrow">
            <a:avLst/>
          </a:prstGeom>
          <a:solidFill>
            <a:srgbClr val="0069B4"/>
          </a:solidFill>
          <a:ln w="12700">
            <a:solidFill>
              <a:srgbClr val="0069B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235440" y="2331720"/>
            <a:ext cx="2331720" cy="868680"/>
          </a:xfrm>
          <a:prstGeom prst="roundRect">
            <a:avLst/>
          </a:prstGeom>
          <a:solidFill>
            <a:srgbClr val="EAF4FF"/>
          </a:solidFill>
          <a:ln w="12700">
            <a:solidFill>
              <a:srgbClr val="D6E6F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372600" y="2441448"/>
            <a:ext cx="2057400" cy="649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E4B"/>
                </a:solidFill>
              </a:rPr>
              <a:t>ELM artifact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0B2E4B"/>
                </a:solidFill>
              </a:rPr>
              <a:t>(deterministic)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40080" y="3429000"/>
            <a:ext cx="10972800" cy="2834640"/>
          </a:xfrm>
          <a:prstGeom prst="roundRect">
            <a:avLst/>
          </a:prstGeom>
          <a:solidFill>
            <a:srgbClr val="EAF4FF"/>
          </a:solidFill>
          <a:ln w="12700">
            <a:solidFill>
              <a:srgbClr val="D6E6F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3611880"/>
            <a:ext cx="10424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E4B"/>
                </a:solidFill>
              </a:rPr>
              <a:t>What “compile” means here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14400" y="3931920"/>
            <a:ext cx="1042416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A24"/>
                </a:solidFill>
              </a:rPr>
              <a:t>• No gradient descent during compilation: structure and parameters are derived from rules
</a:t>
            </a:r>
            <a:pPr indent="0" marL="0">
              <a:buNone/>
            </a:pPr>
            <a:r>
              <a:rPr lang="en-US" sz="1400" dirty="0">
                <a:solidFill>
                  <a:srgbClr val="0F1A24"/>
                </a:solidFill>
              </a:rPr>
              <a:t>• Traceability: every module/weight points back to a specific production rule
</a:t>
            </a:r>
            <a:pPr indent="0" marL="0">
              <a:buNone/>
            </a:pPr>
            <a:r>
              <a:rPr lang="en-US" sz="1400" dirty="0">
                <a:solidFill>
                  <a:srgbClr val="0F1A24"/>
                </a:solidFill>
              </a:rPr>
              <a:t>• Incremental updates: new data → new rules → new modules (no full retrain)
</a:t>
            </a:r>
            <a:pPr indent="0" marL="0">
              <a:buNone/>
            </a:pPr>
            <a:r>
              <a:rPr lang="en-US" sz="1400" dirty="0">
                <a:solidFill>
                  <a:srgbClr val="0F1A24"/>
                </a:solidFill>
              </a:rPr>
              <a:t>• Determinism: same input corpus and rules → identical model artifact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868680"/>
            <a:ext cx="2560320" cy="365760"/>
          </a:xfrm>
          <a:prstGeom prst="roundRect">
            <a:avLst/>
          </a:prstGeom>
          <a:solidFill>
            <a:srgbClr val="EAF4FF"/>
          </a:solidFill>
          <a:ln w="12700">
            <a:solidFill>
              <a:srgbClr val="D6E6F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923544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79C7"/>
                </a:solidFill>
              </a:rPr>
              <a:t>Phases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E4B"/>
                </a:solidFill>
              </a:rPr>
              <a:t>Six-phase contract (0–5): from bootstrap to AI optimization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94360" y="6510528"/>
            <a:ext cx="10972800" cy="0"/>
          </a:xfrm>
          <a:prstGeom prst="line">
            <a:avLst/>
          </a:prstGeom>
          <a:noFill/>
          <a:ln w="12700">
            <a:solidFill>
              <a:srgbClr val="BBD7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565392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7B"/>
                </a:solidFill>
              </a:rPr>
              <a:t>Benjamin-Elias Probst | TU Dresden (SCaDS.AI) | Profilprojekt: Eigentokens / ComdareDB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2240280"/>
            <a:ext cx="1691640" cy="777240"/>
          </a:xfrm>
          <a:prstGeom prst="roundRect">
            <a:avLst/>
          </a:prstGeom>
          <a:solidFill>
            <a:srgbClr val="EAF4FF"/>
          </a:solidFill>
          <a:ln w="12700">
            <a:solidFill>
              <a:srgbClr val="D6E6F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2350008"/>
            <a:ext cx="1417320" cy="5577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2E4B"/>
                </a:solidFill>
              </a:rPr>
              <a:t>Phase 0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B2E4B"/>
                </a:solidFill>
              </a:rPr>
              <a:t>Bootstrap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240280" y="2423160"/>
            <a:ext cx="201168" cy="411480"/>
          </a:xfrm>
          <a:prstGeom prst="rightArrow">
            <a:avLst/>
          </a:prstGeom>
          <a:solidFill>
            <a:srgbClr val="0069B4"/>
          </a:solidFill>
          <a:ln w="12700">
            <a:solidFill>
              <a:srgbClr val="0069B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3063240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7B"/>
                </a:solidFill>
              </a:rPr>
              <a:t>shell / minimal tools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441448" y="2240280"/>
            <a:ext cx="1691640" cy="777240"/>
          </a:xfrm>
          <a:prstGeom prst="roundRect">
            <a:avLst/>
          </a:prstGeom>
          <a:solidFill>
            <a:srgbClr val="DFF0FF"/>
          </a:solidFill>
          <a:ln w="12700">
            <a:solidFill>
              <a:srgbClr val="D6E6F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78608" y="2350008"/>
            <a:ext cx="1417320" cy="5577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2E4B"/>
                </a:solidFill>
              </a:rPr>
              <a:t>Phase 1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B2E4B"/>
                </a:solidFill>
              </a:rPr>
              <a:t>Toolchain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133088" y="2423160"/>
            <a:ext cx="201168" cy="411480"/>
          </a:xfrm>
          <a:prstGeom prst="rightArrow">
            <a:avLst/>
          </a:prstGeom>
          <a:solidFill>
            <a:srgbClr val="0069B4"/>
          </a:solidFill>
          <a:ln w="12700">
            <a:solidFill>
              <a:srgbClr val="0069B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441448" y="3063240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7B"/>
                </a:solidFill>
              </a:rPr>
              <a:t>C/C++ compilers, cmake/ninja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334256" y="2240280"/>
            <a:ext cx="1691640" cy="777240"/>
          </a:xfrm>
          <a:prstGeom prst="roundRect">
            <a:avLst/>
          </a:prstGeom>
          <a:solidFill>
            <a:srgbClr val="EAF4FF"/>
          </a:solidFill>
          <a:ln w="12700">
            <a:solidFill>
              <a:srgbClr val="D6E6F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471416" y="2350008"/>
            <a:ext cx="1417320" cy="5577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2E4B"/>
                </a:solidFill>
              </a:rPr>
              <a:t>Phase 2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B2E4B"/>
                </a:solidFill>
              </a:rPr>
              <a:t>Core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025896" y="2423160"/>
            <a:ext cx="201168" cy="411480"/>
          </a:xfrm>
          <a:prstGeom prst="rightArrow">
            <a:avLst/>
          </a:prstGeom>
          <a:solidFill>
            <a:srgbClr val="0069B4"/>
          </a:solidFill>
          <a:ln w="12700">
            <a:solidFill>
              <a:srgbClr val="0069B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34256" y="3063240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7B"/>
                </a:solidFill>
              </a:rPr>
              <a:t>XML + wrappers stable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227064" y="2240280"/>
            <a:ext cx="1691640" cy="777240"/>
          </a:xfrm>
          <a:prstGeom prst="roundRect">
            <a:avLst/>
          </a:prstGeom>
          <a:solidFill>
            <a:srgbClr val="DFF0FF"/>
          </a:solidFill>
          <a:ln w="12700">
            <a:solidFill>
              <a:srgbClr val="D6E6F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64224" y="2350008"/>
            <a:ext cx="1417320" cy="5577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2E4B"/>
                </a:solidFill>
              </a:rPr>
              <a:t>Phase 3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B2E4B"/>
                </a:solidFill>
              </a:rPr>
              <a:t>Interpreter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918704" y="2423160"/>
            <a:ext cx="201168" cy="411480"/>
          </a:xfrm>
          <a:prstGeom prst="rightArrow">
            <a:avLst/>
          </a:prstGeom>
          <a:solidFill>
            <a:srgbClr val="0069B4"/>
          </a:solidFill>
          <a:ln w="12700">
            <a:solidFill>
              <a:srgbClr val="0069B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27064" y="3063240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7B"/>
                </a:solidFill>
              </a:rPr>
              <a:t>C++ interpreter + plugins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8119872" y="2240280"/>
            <a:ext cx="1691640" cy="777240"/>
          </a:xfrm>
          <a:prstGeom prst="roundRect">
            <a:avLst/>
          </a:prstGeom>
          <a:solidFill>
            <a:srgbClr val="EAF4FF"/>
          </a:solidFill>
          <a:ln w="12700">
            <a:solidFill>
              <a:srgbClr val="D6E6F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57032" y="2350008"/>
            <a:ext cx="1417320" cy="5577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2E4B"/>
                </a:solidFill>
              </a:rPr>
              <a:t>Phase 4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B2E4B"/>
                </a:solidFill>
              </a:rPr>
              <a:t>Hardware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9811512" y="2423160"/>
            <a:ext cx="201168" cy="411480"/>
          </a:xfrm>
          <a:prstGeom prst="rightArrow">
            <a:avLst/>
          </a:prstGeom>
          <a:solidFill>
            <a:srgbClr val="0069B4"/>
          </a:solidFill>
          <a:ln w="12700">
            <a:solidFill>
              <a:srgbClr val="0069B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119872" y="3063240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7B"/>
                </a:solidFill>
              </a:rPr>
              <a:t>GPU/FPGA, scheduling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10012680" y="2240280"/>
            <a:ext cx="1691640" cy="777240"/>
          </a:xfrm>
          <a:prstGeom prst="roundRect">
            <a:avLst/>
          </a:prstGeom>
          <a:solidFill>
            <a:srgbClr val="DFF0FF"/>
          </a:solidFill>
          <a:ln w="12700">
            <a:solidFill>
              <a:srgbClr val="D6E6F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149840" y="2350008"/>
            <a:ext cx="1417320" cy="5577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2E4B"/>
                </a:solidFill>
              </a:rPr>
              <a:t>Phase 5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B2E4B"/>
                </a:solidFill>
              </a:rPr>
              <a:t>Optimization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0012680" y="3063240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7B"/>
                </a:solidFill>
              </a:rPr>
              <a:t>benchmarks, auto-tune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40080" y="3703320"/>
            <a:ext cx="10972800" cy="2606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6F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14400" y="3886200"/>
            <a:ext cx="10424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E4B"/>
                </a:solidFill>
              </a:rPr>
              <a:t>Where ComdareDB fits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914400" y="4206240"/>
            <a:ext cx="1042416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A24"/>
                </a:solidFill>
              </a:rPr>
              <a:t>• Phase 3: interpreter_ready requires plugin binaries + manifest + sha512 verification
</a:t>
            </a:r>
            <a:pPr indent="0" marL="0">
              <a:buNone/>
            </a:pPr>
            <a:r>
              <a:rPr lang="en-US" sz="1400" dirty="0">
                <a:solidFill>
                  <a:srgbClr val="0F1A24"/>
                </a:solidFill>
              </a:rPr>
              <a:t>• Phase 4: grammar induction scheduling across CPU/GPU/FPGA frameworks
</a:t>
            </a:r>
            <a:pPr indent="0" marL="0">
              <a:buNone/>
            </a:pPr>
            <a:r>
              <a:rPr lang="en-US" sz="1400" dirty="0">
                <a:solidFill>
                  <a:srgbClr val="0F1A24"/>
                </a:solidFill>
              </a:rPr>
              <a:t>• Phase 5: compare_benchmark loop writes benchmark profiles to AM database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868680"/>
            <a:ext cx="2560320" cy="365760"/>
          </a:xfrm>
          <a:prstGeom prst="roundRect">
            <a:avLst/>
          </a:prstGeom>
          <a:solidFill>
            <a:srgbClr val="EAF4FF"/>
          </a:solidFill>
          <a:ln w="12700">
            <a:solidFill>
              <a:srgbClr val="D6E6F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923544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79C7"/>
                </a:solidFill>
              </a:rPr>
              <a:t>Evaluation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E4B"/>
                </a:solidFill>
              </a:rPr>
              <a:t>Metrics and empirical targets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94360" y="6510528"/>
            <a:ext cx="10972800" cy="0"/>
          </a:xfrm>
          <a:prstGeom prst="line">
            <a:avLst/>
          </a:prstGeom>
          <a:noFill/>
          <a:ln w="12700">
            <a:solidFill>
              <a:srgbClr val="BBD7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565392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7B"/>
                </a:solidFill>
              </a:rPr>
              <a:t>Benjamin-Elias Probst | TU Dresden (SCaDS.AI) | Profilprojekt: Eigentokens / ComdareDB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40080" y="2011680"/>
            <a:ext cx="5577840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6F5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60120" y="224028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E4B"/>
                </a:solidFill>
              </a:rPr>
              <a:t>Storage metrics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60120" y="2606040"/>
            <a:ext cx="493776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300" dirty="0">
                <a:solidFill>
                  <a:srgbClr val="0F1A24"/>
                </a:solidFill>
              </a:rPr>
              <a:t>Dedup/compression ratio (incl. metadata)</a:t>
            </a:r>
            <a:endParaRPr lang="en-US" sz="1300" dirty="0"/>
          </a:p>
          <a:p>
            <a:pPr marL="228600" indent="-228600">
              <a:buSzPct val="100000"/>
              <a:buChar char="•"/>
            </a:pPr>
            <a:r>
              <a:rPr lang="en-US" sz="1300" dirty="0">
                <a:solidFill>
                  <a:srgbClr val="0F1A24"/>
                </a:solidFill>
              </a:rPr>
              <a:t>Write amplification (bytes written / bytes ingested)</a:t>
            </a:r>
            <a:endParaRPr lang="en-US" sz="1300" dirty="0"/>
          </a:p>
          <a:p>
            <a:pPr marL="228600" indent="-228600">
              <a:buSzPct val="100000"/>
              <a:buChar char="•"/>
            </a:pPr>
            <a:r>
              <a:rPr lang="en-US" sz="1300" dirty="0">
                <a:solidFill>
                  <a:srgbClr val="0F1A24"/>
                </a:solidFill>
              </a:rPr>
              <a:t>Token count growth and hot-token distribution</a:t>
            </a:r>
            <a:endParaRPr lang="en-US" sz="1300" dirty="0"/>
          </a:p>
          <a:p>
            <a:pPr marL="228600" indent="-228600">
              <a:buSzPct val="100000"/>
              <a:buChar char="•"/>
            </a:pPr>
            <a:r>
              <a:rPr lang="en-US" sz="1300" dirty="0">
                <a:solidFill>
                  <a:srgbClr val="0F1A24"/>
                </a:solidFill>
              </a:rPr>
              <a:t>Range read overhead (P50/P95/P99)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46520" y="2011680"/>
            <a:ext cx="5166360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6F5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766560" y="2240280"/>
            <a:ext cx="4526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E4B"/>
                </a:solidFill>
              </a:rPr>
              <a:t>Targets (prototype)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766560" y="2606040"/>
            <a:ext cx="452628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300" dirty="0">
                <a:solidFill>
                  <a:srgbClr val="0F1A24"/>
                </a:solidFill>
              </a:rPr>
              <a:t>25–40% higher dedup effectiveness vs FastCDC (cross-object corpora)</a:t>
            </a:r>
            <a:endParaRPr lang="en-US" sz="1300" dirty="0"/>
          </a:p>
          <a:p>
            <a:pPr marL="228600" indent="-228600">
              <a:buSzPct val="100000"/>
              <a:buChar char="•"/>
            </a:pPr>
            <a:r>
              <a:rPr lang="en-US" sz="1300" dirty="0">
                <a:solidFill>
                  <a:srgbClr val="0F1A24"/>
                </a:solidFill>
              </a:rPr>
              <a:t>P95 read latency within +15% of uncompressed baseline</a:t>
            </a:r>
            <a:endParaRPr lang="en-US" sz="1300" dirty="0"/>
          </a:p>
          <a:p>
            <a:pPr marL="228600" indent="-228600">
              <a:buSzPct val="100000"/>
              <a:buChar char="•"/>
            </a:pPr>
            <a:r>
              <a:rPr lang="en-US" sz="1300" dirty="0">
                <a:solidFill>
                  <a:srgbClr val="0F1A24"/>
                </a:solidFill>
              </a:rPr>
              <a:t>≈30% lower write amplification vs LSM-based KV stores</a:t>
            </a:r>
            <a:endParaRPr lang="en-US" sz="1300" dirty="0"/>
          </a:p>
          <a:p>
            <a:pPr marL="228600" indent="-228600">
              <a:buSzPct val="100000"/>
              <a:buChar char="•"/>
            </a:pPr>
            <a:r>
              <a:rPr lang="en-US" sz="1300" dirty="0">
                <a:solidFill>
                  <a:srgbClr val="0F1A24"/>
                </a:solidFill>
              </a:rPr>
              <a:t>Deterministic compile: identical outputs across runs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868680"/>
            <a:ext cx="2560320" cy="365760"/>
          </a:xfrm>
          <a:prstGeom prst="roundRect">
            <a:avLst/>
          </a:prstGeom>
          <a:solidFill>
            <a:srgbClr val="EAF4FF"/>
          </a:solidFill>
          <a:ln w="12700">
            <a:solidFill>
              <a:srgbClr val="D6E6F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923544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79C7"/>
                </a:solidFill>
              </a:rPr>
              <a:t>Status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E4B"/>
                </a:solidFill>
              </a:rPr>
              <a:t>What is implemented vs. still open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94360" y="6510528"/>
            <a:ext cx="10972800" cy="0"/>
          </a:xfrm>
          <a:prstGeom prst="line">
            <a:avLst/>
          </a:prstGeom>
          <a:noFill/>
          <a:ln w="12700">
            <a:solidFill>
              <a:srgbClr val="BBD7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565392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7B"/>
                </a:solidFill>
              </a:rPr>
              <a:t>Benjamin-Elias Probst | TU Dresden (SCaDS.AI) | Profilprojekt: Eigentokens / ComdareDB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40080" y="2011680"/>
            <a:ext cx="5577840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6F5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60120" y="224028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E4B"/>
                </a:solidFill>
              </a:rPr>
              <a:t>Implemented / stabilized (docs + contracts)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60120" y="2606040"/>
            <a:ext cx="493776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300" dirty="0">
                <a:solidFill>
                  <a:srgbClr val="0F1A24"/>
                </a:solidFill>
              </a:rPr>
              <a:t>Six-phase contract, run layout, status.json/report stubs</a:t>
            </a:r>
            <a:endParaRPr lang="en-US" sz="1300" dirty="0"/>
          </a:p>
          <a:p>
            <a:pPr marL="228600" indent="-228600">
              <a:buSzPct val="100000"/>
              <a:buChar char="•"/>
            </a:pPr>
            <a:r>
              <a:rPr lang="en-US" sz="1300" dirty="0">
                <a:solidFill>
                  <a:srgbClr val="0F1A24"/>
                </a:solidFill>
              </a:rPr>
              <a:t>Toolchain/runner as schema concepts; cross-compile policy</a:t>
            </a:r>
            <a:endParaRPr lang="en-US" sz="1300" dirty="0"/>
          </a:p>
          <a:p>
            <a:pPr marL="228600" indent="-228600">
              <a:buSzPct val="100000"/>
              <a:buChar char="•"/>
            </a:pPr>
            <a:r>
              <a:rPr lang="en-US" sz="1300" dirty="0">
                <a:solidFill>
                  <a:srgbClr val="0F1A24"/>
                </a:solidFill>
              </a:rPr>
              <a:t>ServiceRegistry topology (AM vs AD) + version endpoints</a:t>
            </a:r>
            <a:endParaRPr lang="en-US" sz="1300" dirty="0"/>
          </a:p>
          <a:p>
            <a:pPr marL="228600" indent="-228600">
              <a:buSzPct val="100000"/>
              <a:buChar char="•"/>
            </a:pPr>
            <a:r>
              <a:rPr lang="en-US" sz="1300" dirty="0">
                <a:solidFill>
                  <a:srgbClr val="0F1A24"/>
                </a:solidFill>
              </a:rPr>
              <a:t>Delivery/compare_benchmark schemas + POSSIBLE gating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46520" y="2011680"/>
            <a:ext cx="5166360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6F5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766560" y="2240280"/>
            <a:ext cx="4526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E4B"/>
                </a:solidFill>
              </a:rPr>
              <a:t>Main engineering blockers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766560" y="2606040"/>
            <a:ext cx="452628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300" dirty="0">
                <a:solidFill>
                  <a:srgbClr val="0F1A24"/>
                </a:solidFill>
              </a:rPr>
              <a:t>BuildUtilities C++ interpreter skeleton + plugin loader ABI</a:t>
            </a:r>
            <a:endParaRPr lang="en-US" sz="1300" dirty="0"/>
          </a:p>
          <a:p>
            <a:pPr marL="228600" indent="-228600">
              <a:buSzPct val="100000"/>
              <a:buChar char="•"/>
            </a:pPr>
            <a:r>
              <a:rPr lang="en-US" sz="1300" dirty="0">
                <a:solidFill>
                  <a:srgbClr val="0F1A24"/>
                </a:solidFill>
              </a:rPr>
              <a:t>Plugin binary pipeline: build → cache → upload/register → load</a:t>
            </a:r>
            <a:endParaRPr lang="en-US" sz="1300" dirty="0"/>
          </a:p>
          <a:p>
            <a:pPr marL="228600" indent="-228600">
              <a:buSzPct val="100000"/>
              <a:buChar char="•"/>
            </a:pPr>
            <a:r>
              <a:rPr lang="en-US" sz="1300" dirty="0">
                <a:solidFill>
                  <a:srgbClr val="0F1A24"/>
                </a:solidFill>
              </a:rPr>
              <a:t>Phase 4: hardware detection + scheduling + toolkit pins per OS</a:t>
            </a:r>
            <a:endParaRPr lang="en-US" sz="1300" dirty="0"/>
          </a:p>
          <a:p>
            <a:pPr marL="228600" indent="-228600">
              <a:buSzPct val="100000"/>
              <a:buChar char="•"/>
            </a:pPr>
            <a:r>
              <a:rPr lang="en-US" sz="1300" dirty="0">
                <a:solidFill>
                  <a:srgbClr val="0F1A24"/>
                </a:solidFill>
              </a:rPr>
              <a:t>Recursion tests across consumer projects (SITL/Steuerrater)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868680"/>
            <a:ext cx="2560320" cy="365760"/>
          </a:xfrm>
          <a:prstGeom prst="roundRect">
            <a:avLst/>
          </a:prstGeom>
          <a:solidFill>
            <a:srgbClr val="EAF4FF"/>
          </a:solidFill>
          <a:ln w="12700">
            <a:solidFill>
              <a:srgbClr val="D6E6F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923544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79C7"/>
                </a:solidFill>
              </a:rPr>
              <a:t>Risks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E4B"/>
                </a:solidFill>
              </a:rPr>
              <a:t>Known limitations and mitigation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94360" y="6510528"/>
            <a:ext cx="10972800" cy="0"/>
          </a:xfrm>
          <a:prstGeom prst="line">
            <a:avLst/>
          </a:prstGeom>
          <a:noFill/>
          <a:ln w="12700">
            <a:solidFill>
              <a:srgbClr val="BBD7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565392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7B"/>
                </a:solidFill>
              </a:rPr>
              <a:t>Benjamin-Elias Probst | TU Dresden (SCaDS.AI) | Profilprojekt: Eigentokens / ComdareDB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40080" y="2011680"/>
            <a:ext cx="10972800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6F5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60120" y="2240280"/>
            <a:ext cx="10332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E4B"/>
                </a:solidFill>
              </a:rPr>
              <a:t>What can go wrong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60120" y="2606040"/>
            <a:ext cx="103327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300" dirty="0">
                <a:solidFill>
                  <a:srgbClr val="0F1A24"/>
                </a:solidFill>
              </a:rPr>
              <a:t>Grammar induction worst-case cost (O(n^3)) → must be tamed with heuristics and batching.</a:t>
            </a:r>
            <a:endParaRPr lang="en-US" sz="1300" dirty="0"/>
          </a:p>
          <a:p>
            <a:pPr marL="228600" indent="-228600">
              <a:buSzPct val="100000"/>
              <a:buChar char="•"/>
            </a:pPr>
            <a:r>
              <a:rPr lang="en-US" sz="1300" dirty="0">
                <a:solidFill>
                  <a:srgbClr val="0F1A24"/>
                </a:solidFill>
              </a:rPr>
              <a:t>Metadata growth on low-redundancy data → fall back to simpler block storage when needed.</a:t>
            </a:r>
            <a:endParaRPr lang="en-US" sz="1300" dirty="0"/>
          </a:p>
          <a:p>
            <a:pPr marL="228600" indent="-228600">
              <a:buSzPct val="100000"/>
              <a:buChar char="•"/>
            </a:pPr>
            <a:r>
              <a:rPr lang="en-US" sz="1300" dirty="0">
                <a:solidFill>
                  <a:srgbClr val="0F1A24"/>
                </a:solidFill>
              </a:rPr>
              <a:t>Deterministic errors: wrong rule propagates everywhere → requires strong validation gates.</a:t>
            </a:r>
            <a:endParaRPr lang="en-US" sz="1300" dirty="0"/>
          </a:p>
          <a:p>
            <a:pPr marL="228600" indent="-228600">
              <a:buSzPct val="100000"/>
              <a:buChar char="•"/>
            </a:pPr>
            <a:r>
              <a:rPr lang="en-US" sz="1300" dirty="0">
                <a:solidFill>
                  <a:srgbClr val="0F1A24"/>
                </a:solidFill>
              </a:rPr>
              <a:t>Security: interpreter programs must be sandboxed (VM limits, recursion depth, timeouts).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868680"/>
            <a:ext cx="2560320" cy="365760"/>
          </a:xfrm>
          <a:prstGeom prst="roundRect">
            <a:avLst/>
          </a:prstGeom>
          <a:solidFill>
            <a:srgbClr val="EAF4FF"/>
          </a:solidFill>
          <a:ln w="12700">
            <a:solidFill>
              <a:srgbClr val="D6E6F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923544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79C7"/>
                </a:solidFill>
              </a:rPr>
              <a:t>Next steps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E4B"/>
                </a:solidFill>
              </a:rPr>
              <a:t>Concrete work packages (next sprint)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94360" y="6510528"/>
            <a:ext cx="10972800" cy="0"/>
          </a:xfrm>
          <a:prstGeom prst="line">
            <a:avLst/>
          </a:prstGeom>
          <a:noFill/>
          <a:ln w="12700">
            <a:solidFill>
              <a:srgbClr val="BBD7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565392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7B"/>
                </a:solidFill>
              </a:rPr>
              <a:t>Benjamin-Elias Probst | TU Dresden (SCaDS.AI) | Profilprojekt: Eigentokens / ComdareDB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40080" y="2011680"/>
            <a:ext cx="10972800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6F5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60120" y="2240280"/>
            <a:ext cx="10332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E4B"/>
                </a:solidFill>
              </a:rPr>
              <a:t>Priority order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60120" y="2606040"/>
            <a:ext cx="103327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300" dirty="0">
                <a:solidFill>
                  <a:srgbClr val="0F1A24"/>
                </a:solidFill>
              </a:rPr>
              <a:t>1) Implement BuildUtilities interpreter skeleton + plugin ABI (Phase 3 done-criteria).</a:t>
            </a:r>
            <a:endParaRPr lang="en-US" sz="1300" dirty="0"/>
          </a:p>
          <a:p>
            <a:pPr marL="228600" indent="-228600">
              <a:buSzPct val="100000"/>
              <a:buChar char="•"/>
            </a:pPr>
            <a:r>
              <a:rPr lang="en-US" sz="1300" dirty="0">
                <a:solidFill>
                  <a:srgbClr val="0F1A24"/>
                </a:solidFill>
              </a:rPr>
              <a:t>2) Implement plugin manifest selection + sha512 verification + fail-closed loading.</a:t>
            </a:r>
            <a:endParaRPr lang="en-US" sz="1300" dirty="0"/>
          </a:p>
          <a:p>
            <a:pPr marL="228600" indent="-228600">
              <a:buSzPct val="100000"/>
              <a:buChar char="•"/>
            </a:pPr>
            <a:r>
              <a:rPr lang="en-US" sz="1300" dirty="0">
                <a:solidFill>
                  <a:srgbClr val="0F1A24"/>
                </a:solidFill>
              </a:rPr>
              <a:t>3) Implement phase-status + status.json writing in all orchestrators (sh/bat/cmake parity).</a:t>
            </a:r>
            <a:endParaRPr lang="en-US" sz="1300" dirty="0"/>
          </a:p>
          <a:p>
            <a:pPr marL="228600" indent="-228600">
              <a:buSzPct val="100000"/>
              <a:buChar char="•"/>
            </a:pPr>
            <a:r>
              <a:rPr lang="en-US" sz="1300" dirty="0">
                <a:solidFill>
                  <a:srgbClr val="0F1A24"/>
                </a:solidFill>
              </a:rPr>
              <a:t>4) Minimal recursion test matrix on Windows/Linux (Phase 0–3) + stabilize wrappers.</a:t>
            </a:r>
            <a:endParaRPr lang="en-US" sz="1300" dirty="0"/>
          </a:p>
          <a:p>
            <a:pPr marL="228600" indent="-228600">
              <a:buSzPct val="100000"/>
              <a:buChar char="•"/>
            </a:pPr>
            <a:r>
              <a:rPr lang="en-US" sz="1300" dirty="0">
                <a:solidFill>
                  <a:srgbClr val="0F1A24"/>
                </a:solidFill>
              </a:rPr>
              <a:t>5) Phase 4 planning: toolkits/driver pins per accelerator class + validation gates.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69B4"/>
          </a:solidFill>
          <a:ln w="12700">
            <a:solidFill>
              <a:srgbClr val="0069B4"/>
            </a:solidFill>
            <a:prstDash val="solid"/>
          </a:ln>
        </p:spPr>
      </p:sp>
      <p:pic>
        <p:nvPicPr>
          <p:cNvPr id="3" name="Image 0" descr="/mnt/data/pptx_old_unz/ppt/media/image-1-1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252552"/>
            <a:ext cx="1325880" cy="637896"/>
          </a:xfrm>
          <a:prstGeom prst="rect">
            <a:avLst/>
          </a:prstGeom>
        </p:spPr>
      </p:pic>
      <p:pic>
        <p:nvPicPr>
          <p:cNvPr id="4" name="Image 1" descr="/mnt/data/pptx_old_unz/ppt/media/image-1-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275787"/>
            <a:ext cx="1325880" cy="582282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40080" y="100584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2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3400" dirty="0"/>
          </a:p>
        </p:txBody>
      </p:sp>
      <p:sp>
        <p:nvSpPr>
          <p:cNvPr id="6" name="Text 2"/>
          <p:cNvSpPr/>
          <p:nvPr/>
        </p:nvSpPr>
        <p:spPr>
          <a:xfrm>
            <a:off x="640080" y="160020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you.</a:t>
            </a:r>
            <a:endParaRPr lang="en-US" sz="1800" dirty="0"/>
          </a:p>
        </p:txBody>
      </p:sp>
      <p:sp>
        <p:nvSpPr>
          <p:cNvPr id="7" name="Shape 3"/>
          <p:cNvSpPr/>
          <p:nvPr/>
        </p:nvSpPr>
        <p:spPr>
          <a:xfrm>
            <a:off x="0" y="6720840"/>
            <a:ext cx="12191695" cy="73152"/>
          </a:xfrm>
          <a:prstGeom prst="rect">
            <a:avLst/>
          </a:prstGeom>
          <a:solidFill>
            <a:srgbClr val="CFE8F9"/>
          </a:solidFill>
          <a:ln w="12700">
            <a:solidFill>
              <a:srgbClr val="CFE8F9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640080" y="2286000"/>
            <a:ext cx="10972800" cy="3931920"/>
          </a:xfrm>
          <a:prstGeom prst="roundRect">
            <a:avLst/>
          </a:prstGeom>
          <a:solidFill>
            <a:srgbClr val="EAF4FF"/>
          </a:solidFill>
          <a:ln w="12700">
            <a:solidFill>
              <a:srgbClr val="D6E6F5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914400" y="2606040"/>
            <a:ext cx="10424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E4B"/>
                </a:solidFill>
              </a:rPr>
              <a:t>Contact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914400" y="2926080"/>
            <a:ext cx="10424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A24"/>
                </a:solidFill>
              </a:rPr>
              <a:t>Benjamin-Elias Probst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F1A24"/>
                </a:solidFill>
              </a:rPr>
              <a:t>TU Dresden — SCaDS.AI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F1A24"/>
                </a:solidFill>
              </a:rPr>
              <a:t>Profilprojekt: Eigentokens / ComdareDB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914400" y="3977640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7B"/>
                </a:solidFill>
              </a:rPr>
              <a:t>Appendix-ready: chunking diagrams, phase contracts, run-layout schema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2026-02-21T01:09:38Z</dcterms:created>
  <dcterms:modified xsi:type="dcterms:W3CDTF">2026-02-21T01:09:38Z</dcterms:modified>
</cp:coreProperties>
</file>