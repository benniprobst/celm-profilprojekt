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(ScaDS.AI website; bubble background and logo)
- https://scads.ai/ (institutional context)
- https://cdn.freelogovectors.net/wp-content/uploads/2020/01/tu-dresden-logo-technische-universitat-dresden.png (TU Dresden logo image)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(ScaDS.AI scope)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(ScaDS.AI research 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(institutional 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(project 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https://ranger.uta.edu/~jiang/publication/Journals/2020/2020-IEEE-TPDS%28Wen%20Xia%29.pdf (FastCDC paper; CDC background)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https://www.rfc-editor.org/rfc/rfc9110 (HTTP semantics; Range requests)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https://ranger.uta.edu/~jiang/publication/Journals/2020/2020-IEEE-TPDS%28Wen%20Xia%29.pdf (FastCDC background)
- https://link.springer.com/content/pdf/10.1007/s002360050048.pdf (LSM-tree paper)
- https://pmc.ncbi.nlm.nih.gov/articles/PMC3042176/ (BGZF in Tabix paper)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https://scads.ai/ (context)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scads_bubble.png">    </p:cNvPr>
          <p:cNvPicPr>
            <a:picLocks noChangeAspect="1"/>
          </p:cNvPicPr>
          <p:nvPr/>
        </p:nvPicPr>
        <p:blipFill>
          <a:blip r:embed="rId1"/>
          <a:srcRect l="4745" r="4745" t="0" b="0"/>
          <a:stretch/>
        </p:blipFill>
        <p:spPr>
          <a:xfrm>
            <a:off x="8412480" y="1005840"/>
            <a:ext cx="3657600" cy="3657600"/>
          </a:xfrm>
          <a:prstGeom prst="rect">
            <a:avLst/>
          </a:prstGeom>
        </p:spPr>
      </p:pic>
      <p:pic>
        <p:nvPicPr>
          <p:cNvPr id="3" name="Image 1" descr="/mnt/data/assets/tu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02920"/>
            <a:ext cx="502920" cy="502920"/>
          </a:xfrm>
          <a:prstGeom prst="rect">
            <a:avLst/>
          </a:prstGeom>
        </p:spPr>
      </p:pic>
      <p:pic>
        <p:nvPicPr>
          <p:cNvPr id="4" name="Image 2" descr="/mnt/data/assets/scads_ai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9003" y="502920"/>
            <a:ext cx="410784" cy="4114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85800" y="14173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RedcomponentDB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685800" y="20574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storage as substrate for an LLM compiler</a:t>
            </a:r>
            <a:endParaRPr lang="en-US" sz="2000" dirty="0"/>
          </a:p>
        </p:txBody>
      </p:sp>
      <p:sp>
        <p:nvSpPr>
          <p:cNvPr id="7" name="Shape 2"/>
          <p:cNvSpPr/>
          <p:nvPr/>
        </p:nvSpPr>
        <p:spPr>
          <a:xfrm>
            <a:off x="685800" y="2606040"/>
            <a:ext cx="6949440" cy="0"/>
          </a:xfrm>
          <a:prstGeom prst="line">
            <a:avLst/>
          </a:prstGeom>
          <a:noFill/>
          <a:ln w="38100">
            <a:solidFill>
              <a:srgbClr val="2C94CC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85800" y="28803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presentation (Profilprojekt Anwendungsforschung, INF-PM-FPA)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 Michael Färber (ScaDS.AI / TU Dresden)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Benjamin-Elias Probst • Winter term 2025/26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in ~30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492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storage learns a reusable grammar of the corpus, the same grammar becomes a deterministic, inspectable substrate for compiling domain-specific LLMs.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25780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
</a:t>
            </a:r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Eigentokens: token model + grammar induction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RedcomponentDB: tokenized storage kernel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compiler pipeline (ELM/CELM)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validation (BuildSystem phases, AM/cluster)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open TODOs, next milestones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4800600"/>
            <a:ext cx="5257800" cy="292608"/>
          </a:xfrm>
          <a:prstGeom prst="rect">
            <a:avLst/>
          </a:prstGeom>
          <a:solidFill>
            <a:srgbClr val="2C94CC"/>
          </a:solidFill>
          <a:ln>
            <a:solidFill>
              <a:srgbClr val="2C94C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grammar discovery + database-driven decomposition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opaque training to traceable compilation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4924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quo: probabilistic training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is implicit in weights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Updating requires retraining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traceability from data to behavior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Debugging wrong outputs is expensive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2578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storage-native grammar + compiler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 grammar rules as knowledge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Incremental updates via rule edits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execution path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Traceability: rule → component →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5806440"/>
            <a:ext cx="10835640" cy="292608"/>
          </a:xfrm>
          <a:prstGeom prst="rect">
            <a:avLst/>
          </a:prstGeom>
          <a:solidFill>
            <a:srgbClr val="E20074"/>
          </a:solidFill>
          <a:ln>
            <a:solidFill>
              <a:srgbClr val="E2007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hypothesis: redundancy across data objects is a signal that can be mined into reusable grammatical structure.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36118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(concept)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tuple ⟨id,P,D,R⟩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grammar cookbook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+ async consolidation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26280" y="1234440"/>
            <a:ext cx="361188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 (kernel)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Persist/query tokens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Object-store façade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reads + content addressing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66760" y="1234440"/>
            <a:ext cx="3136392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BuildSystem/AM (execution)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0–5 contracts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Toolchain/runner (cross)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ServiceRegistry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 LLM compiler that builds auto-updatable models from a database corpus via grammar induction.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data + a reconstruction program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4924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tuple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⟨ id, P, D, R ⟩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id: SHA-512 fingerprint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P: interpretation program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D: optional literal payload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R: references / dependencies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257800" cy="25603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example
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SHA512("Apfelbaum")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CONCAT(tau_1, tau_2)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null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{ SHA512("Apfel"), SHA512("baum") 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1083564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an “LLM compiler”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many objects share sub-structures, the grammar cookbook becomes a modular basis: rules become reusable building blocks for storage and for model components.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bytes to reusable productions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3317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seeding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(content-defined)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63240" y="1709928"/>
            <a:ext cx="137160" cy="320040"/>
          </a:xfrm>
          <a:prstGeom prst="rightArrow">
            <a:avLst/>
          </a:prstGeom>
          <a:solidFill>
            <a:srgbClr val="2C94CC"/>
          </a:solidFill>
          <a:ln w="12700">
            <a:solidFill>
              <a:srgbClr val="2C9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1417320"/>
            <a:ext cx="23317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(cross-object)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1709928"/>
            <a:ext cx="137160" cy="320040"/>
          </a:xfrm>
          <a:prstGeom prst="rightArrow">
            <a:avLst/>
          </a:prstGeom>
          <a:solidFill>
            <a:srgbClr val="2C94CC"/>
          </a:solidFill>
          <a:ln w="12700">
            <a:solidFill>
              <a:srgbClr val="2C9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417320"/>
            <a:ext cx="233172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consolidation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 under edits)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83880" y="1709928"/>
            <a:ext cx="137160" cy="320040"/>
          </a:xfrm>
          <a:prstGeom prst="rightArrow">
            <a:avLst/>
          </a:prstGeom>
          <a:solidFill>
            <a:srgbClr val="2C94CC"/>
          </a:solidFill>
          <a:ln w="12700">
            <a:solidFill>
              <a:srgbClr val="2C9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417320"/>
            <a:ext cx="2331720" cy="960120"/>
          </a:xfrm>
          <a:prstGeom prst="rect">
            <a:avLst/>
          </a:prstGeom>
          <a:solidFill>
            <a:srgbClr val="84CFED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cookbook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(tokens + DAG)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108356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Worst case can be cubic for general grammar induction; we rely on heuristics + batching.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Cross-object learning targets repeated structures spanning file boundaries.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resulting grammar is both (a) a compression index and (b) a model substrate.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kernel for grammar-aware storage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4924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the system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 is the persistence layer for tokens and their references. It provides: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content-addressed lookup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structured, modular interfaces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primitives for merge/append/store/reference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2578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S3/HTTP Range • KV • SQL/TSDB (adapters)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2331720"/>
            <a:ext cx="5257800" cy="960120"/>
          </a:xfrm>
          <a:prstGeom prst="rect">
            <a:avLst/>
          </a:prstGeom>
          <a:solidFill>
            <a:srgbClr val="84CFED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 core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ObjectStore façade • token index • rule store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3429000"/>
            <a:ext cx="52578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backend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 forest / segment store • tool/product cache • iSCSI/S3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806440"/>
            <a:ext cx="10835640" cy="292608"/>
          </a:xfrm>
          <a:prstGeom prst="rect">
            <a:avLst/>
          </a:prstGeom>
          <a:solidFill>
            <a:srgbClr val="E20074"/>
          </a:solidFill>
          <a:ln>
            <a:solidFill>
              <a:srgbClr val="E2007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storing “grammar units” so they are (1) deduplicated, (2) range-addressable, and (3) reusable as model components.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compiler (ELM/CELM)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model artifacts from the grammar cookbook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1488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corpus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→ tokens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52928" y="1764792"/>
            <a:ext cx="146304" cy="292608"/>
          </a:xfrm>
          <a:prstGeom prst="rightArrow">
            <a:avLst/>
          </a:prstGeom>
          <a:solidFill>
            <a:srgbClr val="2C94CC"/>
          </a:solidFill>
          <a:ln w="12700">
            <a:solidFill>
              <a:srgbClr val="2C9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417320"/>
            <a:ext cx="21488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 grammar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cookbook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84648" y="1764792"/>
            <a:ext cx="146304" cy="292608"/>
          </a:xfrm>
          <a:prstGeom prst="rightArrow">
            <a:avLst/>
          </a:prstGeom>
          <a:solidFill>
            <a:srgbClr val="2C94CC"/>
          </a:solidFill>
          <a:ln w="12700">
            <a:solidFill>
              <a:srgbClr val="2C9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417320"/>
            <a:ext cx="21488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domain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Topic-filtered tokens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16368" y="1764792"/>
            <a:ext cx="146304" cy="292608"/>
          </a:xfrm>
          <a:prstGeom prst="rightArrow">
            <a:avLst/>
          </a:prstGeom>
          <a:solidFill>
            <a:srgbClr val="2C94CC"/>
          </a:solidFill>
          <a:ln w="12700">
            <a:solidFill>
              <a:srgbClr val="2C9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417320"/>
            <a:ext cx="2148840" cy="1005840"/>
          </a:xfrm>
          <a:prstGeom prst="rect">
            <a:avLst/>
          </a:prstGeom>
          <a:solidFill>
            <a:srgbClr val="84CFED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model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+ weights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48088" y="1764792"/>
            <a:ext cx="146304" cy="292608"/>
          </a:xfrm>
          <a:prstGeom prst="rightArrow">
            <a:avLst/>
          </a:prstGeom>
          <a:solidFill>
            <a:srgbClr val="2C94CC"/>
          </a:solidFill>
          <a:ln w="12700">
            <a:solidFill>
              <a:srgbClr val="2C9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12680" y="1417320"/>
            <a:ext cx="21488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inference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outputs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1083564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we target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Determinism: same inputs → same outputs (no sampling).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Traceability: every component maps to explicit rules/patterns.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Incremental updates: add/modify grammar rules instead of retraining.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by construction: fail-closed loading + digest verification for compiled artifacts.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access semantics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addressing + HTTP range + run layout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4924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Seekable reads (Range)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remain random-accessible via HTTP Range requests (partial reads) while being stored as token sequences.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3474720"/>
            <a:ext cx="53492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addressing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keyed by a cryptographic digest (SHA-512). Identical content resolves to the same id, enabling deduplication by key match.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234440"/>
            <a:ext cx="52578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run/report layout (BuildSystem)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status.json (mode/phase/run_id/signals/digests)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done.marker / failed.marker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log.ndjson (structured logs)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cross_compile_status.json + phase validation reports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validation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phases + AM/cluster orchestration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600200" cy="502920"/>
          </a:xfrm>
          <a:prstGeom prst="rect">
            <a:avLst/>
          </a:prstGeom>
          <a:solidFill>
            <a:srgbClr val="2C94CC"/>
          </a:solidFill>
          <a:ln>
            <a:solidFill>
              <a:srgbClr val="2C94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68880" y="1325880"/>
            <a:ext cx="1600200" cy="502920"/>
          </a:xfrm>
          <a:prstGeom prst="rect">
            <a:avLst/>
          </a:prstGeom>
          <a:solidFill>
            <a:srgbClr val="2C94CC"/>
          </a:solidFill>
          <a:ln>
            <a:solidFill>
              <a:srgbClr val="2C94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51960" y="1325880"/>
            <a:ext cx="1600200" cy="502920"/>
          </a:xfrm>
          <a:prstGeom prst="rect">
            <a:avLst/>
          </a:prstGeom>
          <a:solidFill>
            <a:srgbClr val="2C94CC"/>
          </a:solidFill>
          <a:ln>
            <a:solidFill>
              <a:srgbClr val="2C94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1325880"/>
            <a:ext cx="1600200" cy="502920"/>
          </a:xfrm>
          <a:prstGeom prst="rect">
            <a:avLst/>
          </a:prstGeom>
          <a:solidFill>
            <a:srgbClr val="2C94CC"/>
          </a:solidFill>
          <a:ln>
            <a:solidFill>
              <a:srgbClr val="2C94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18120" y="1325880"/>
            <a:ext cx="1600200" cy="502920"/>
          </a:xfrm>
          <a:prstGeom prst="rect">
            <a:avLst/>
          </a:prstGeom>
          <a:solidFill>
            <a:srgbClr val="E20074"/>
          </a:solidFill>
          <a:ln>
            <a:solidFill>
              <a:srgbClr val="E2007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1325880"/>
            <a:ext cx="1600200" cy="502920"/>
          </a:xfrm>
          <a:prstGeom prst="rect">
            <a:avLst/>
          </a:prstGeom>
          <a:solidFill>
            <a:srgbClr val="E20074"/>
          </a:solidFill>
          <a:ln>
            <a:solidFill>
              <a:srgbClr val="E2007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534924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/ managed / server modes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defines “done” criteria per mode: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direct: artifacts + digest + smoke test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managed: job accepted + report path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server: registry confirms + snapshot updated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057400"/>
            <a:ext cx="52578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(AM) vision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groups machines by hardware/OS/performance and governs tool/start permissions.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AD-like user groups are layered on top of AM.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 publishes node capabilities, stats, and artifact locations.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baselines, and datasets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4924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(prototype)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+25–40% dedup effectiveness vs FastCDC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 read latency within +15% baseline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−30% write amplification vs LSM-tree storage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3840480"/>
            <a:ext cx="53492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 • text/log corpora • mixed binaries • (optional) genomics (BGZF baseline)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234440"/>
            <a:ext cx="525780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FastCDC(+zstd) • fixed blocks + seekable compression • BGZF • RocksDB (LSM-tree)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space ratio, ingest, write amplification, P50/P95/P99, and determinism checks.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in place vs. still missing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34924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(docs/contracts)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Six-phase validation doc set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Canonical run/report layout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Cross-compile toolchain/runner schema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ServiceRegistry + AM topology docs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profile schema + session logs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3640" y="1234440"/>
            <a:ext cx="5257800" cy="4526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blockers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BuildUtilities C++ interpreter + plugin loader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Digest-verified plugin pipeline (build→cache→register→load)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compare_benchmark runtime wiring + AM DB write-back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Delivery runtime (Helm / BlueGreen / Canary)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Scheduler + remote process managers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5806440"/>
            <a:ext cx="10835640" cy="292608"/>
          </a:xfrm>
          <a:prstGeom prst="rect">
            <a:avLst/>
          </a:prstGeom>
          <a:solidFill>
            <a:srgbClr val="E20074"/>
          </a:solidFill>
          <a:ln>
            <a:solidFill>
              <a:srgbClr val="E20074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“interpreter_ready”: only true after plugin binaries can be built, verified, registered, and loaded end-to-end.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and how we handle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8356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 cost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with heuristics, batching, and fallbacks to chunking when redundancy is low.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108356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explosion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rule creation; compact indices; threshold-based tokenization.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337560"/>
            <a:ext cx="108356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complexity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+ phase gates; explicit toolchain/runner; reproducible run layout.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389120"/>
            <a:ext cx="1083564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executable rules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VM + recursion/time limits; fail-closed digest verification.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305D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“docs complete” to “system runs end-to-end”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835640" cy="749808"/>
          </a:xfrm>
          <a:prstGeom prst="rect">
            <a:avLst/>
          </a:prstGeom>
          <a:solidFill>
            <a:srgbClr val="84CFED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Phase 3 runtime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interpreter skeleton + plugin loader ABI + digest verification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108356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Recursion tests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 → SITL → Steuerrater end-to-end on Windows + Linux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108356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Delivery runtime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+ BlueGreen/Canary strategies wired to delivery manifests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108356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Benchmark write-back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compare_benchmark writes profiles into AM DB + publishes plots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526280"/>
            <a:ext cx="1083564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RedcomponentDB + grammar
</a:t>
            </a:r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 + grammar induction validated on realistic corpora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715000"/>
            <a:ext cx="10835640" cy="292608"/>
          </a:xfrm>
          <a:prstGeom prst="rect">
            <a:avLst/>
          </a:prstGeom>
          <a:solidFill>
            <a:srgbClr val="2C94CC"/>
          </a:solidFill>
          <a:ln>
            <a:solidFill>
              <a:srgbClr val="2C94C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pick the next implementation focus (interpreter+plugins vs delivery runtime vs benchmark DB wiring).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10528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• ScaDS.AI • Interim Presentation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85855" y="65105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1</cp:revision>
  <dcterms:created xsi:type="dcterms:W3CDTF">2026-01-08T07:23:58Z</dcterms:created>
  <dcterms:modified xsi:type="dcterms:W3CDTF">2026-01-08T07:23:58Z</dcterms:modified>
</cp:coreProperties>
</file>