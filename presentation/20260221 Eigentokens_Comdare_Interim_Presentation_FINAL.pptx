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50" d="100"/>
          <a:sy n="250" d="100"/>
        </p:scale>
        <p:origin x="192" y="10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980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TU Dresden logo: https://commons.wikimedia.org/wiki/File:Logo_TU_Dresden_en_2025.svg
- ScaDS.AI logo: https://iccl.inf.tu-dresden.de/w/images/7/71/Scads-logo.png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FastCDC paper: https://www.usenix.org/conference/atc16/technical-sessions/presentation/xia
- LBFS (CDC classic): https://www.usenix.org/legacy/events/osdi01/full_papers/muthitacharoen/muthitacharoen.pdf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RFC 9110 (HTTP Range requests): https://www.rfc-editor.org/rfc/rfc9110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Grammar-based compression background (Sequitur): https://www.cs.usyd.edu.au/~miranda/papers/Sequitur.pdf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FastCDC (CDC seeding baseline): https://www.usenix.org/conference/atc16/technical-sessions/presentation/xia
- Sequitur (grammar induction concept): https://www.cs.usyd.edu.au/~miranda/papers/Sequitur.pdf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FastCDC: https://www.usenix.org/conference/atc16/technical-sessions/presentation/xia
- LBFS (CDC): https://www.usenix.org/legacy/events/osdi01/full_papers/muthitacharoen/muthitacharoen.pdf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RFC 9110 (HTTP Range requests): https://www.rfc-editor.org/rfc/rfc9110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FastCDC baseline: https://www.usenix.org/conference/atc16/technical-sessions/presentation/xia
- LSM-tree origins: https://doi.org/10.1145/646334.687830
- BGZF: https://academic.oup.com/bioinformatics/article/25/16/2078/204688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000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411480"/>
            <a:ext cx="1554480" cy="43891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411480"/>
            <a:ext cx="1097280" cy="4389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800" y="18288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Eigentokens + Comdare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713232" y="2606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Grammar-aware deduplication + deterministic compilation of LLM components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713232" y="3429000"/>
            <a:ext cx="7040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6"/>
          <p:cNvSpPr/>
          <p:nvPr/>
        </p:nvSpPr>
        <p:spPr>
          <a:xfrm>
            <a:off x="960120" y="3593592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Zwischenpräsentation (30 min)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Dresden · ScaDS.AI · Profilprojekt Anwendungsforschung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13232" y="48006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Benjamin‑Elias Probst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Betreuer: Prof. Dr. Michael Färber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ich in 30 Minuten abdecken will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868680" y="1417320"/>
            <a:ext cx="10972800" cy="2326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Storage-Dedupe vs. Modellaufbau (und warum die Trennung weh tut)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Eigentoken-Modell (id, P, D, R) und „Grammar Cookbook“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Grammatical Chunking: von CDC-Seeding zu Cross-Object Regeln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Comdare als Referenz-DB: Module, Pipeline, offene Gaps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Phasen 0–5: Build/Validate/Benchmark/Compile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Next Steps (Phase 3 Interpreter, Phase 4 Scheduler, Phase 5 Auto-Benchmark)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7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Eigentokens + Comdare · Zwischenpräsentation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Eigentokens + Comdare?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31520" y="13258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6"/>
          <p:cNvSpPr/>
          <p:nvPr/>
        </p:nvSpPr>
        <p:spPr>
          <a:xfrm>
            <a:off x="731520" y="1325880"/>
            <a:ext cx="82296" cy="214884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7"/>
          <p:cNvSpPr/>
          <p:nvPr/>
        </p:nvSpPr>
        <p:spPr>
          <a:xfrm>
            <a:off x="896112" y="1472184"/>
            <a:ext cx="51389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heute: mächtig, aber schwer zu warten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896112" y="1801368"/>
            <a:ext cx="5102352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Wissen steckt in Gewichten (Black Box)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Debugging = Retraining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Updates teuer und langsam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Traceability/Auditability schwach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31520" y="3703320"/>
            <a:ext cx="53949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0"/>
          <p:cNvSpPr/>
          <p:nvPr/>
        </p:nvSpPr>
        <p:spPr>
          <a:xfrm>
            <a:off x="731520" y="3703320"/>
            <a:ext cx="82296" cy="2331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1"/>
          <p:cNvSpPr/>
          <p:nvPr/>
        </p:nvSpPr>
        <p:spPr>
          <a:xfrm>
            <a:off x="896112" y="3849624"/>
            <a:ext cx="51389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heute: Dedupe ohne Semantik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96112" y="4178808"/>
            <a:ext cx="5102352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CDC (z.B. FastCDC): Byte-Stream Sicht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Cross-file Muster nur begrenzt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Chunk-Größe ↔ Metadata/Latency Trade-off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Range Reads brauchen Zusatzindex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446520" y="1325880"/>
            <a:ext cx="498348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4"/>
          <p:cNvSpPr/>
          <p:nvPr/>
        </p:nvSpPr>
        <p:spPr>
          <a:xfrm>
            <a:off x="6446520" y="1325880"/>
            <a:ext cx="82296" cy="470916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5"/>
          <p:cNvSpPr/>
          <p:nvPr/>
        </p:nvSpPr>
        <p:spPr>
          <a:xfrm>
            <a:off x="6611112" y="1472184"/>
            <a:ext cx="4727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Kernidee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611112" y="1801368"/>
            <a:ext cx="4690872" cy="4105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erkennt Struktur → diese Struktur ist gleichzeitig ein Modell.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Eigentokens behandeln Wiederholungen als Grammar-Regeln (Tokens).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Comdare ist die Referenz-DB, die diese Regeln speichert, versioniert, und für Compiler/Benchmarks nutzbar macht.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18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Problemstellung → eine gemeinsame Architektur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probabilistischem Training zu deterministischer „Kompilation“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31520" y="1417320"/>
            <a:ext cx="1074420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6"/>
          <p:cNvSpPr/>
          <p:nvPr/>
        </p:nvSpPr>
        <p:spPr>
          <a:xfrm>
            <a:off x="960120" y="1664208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These: Ein Teil von „LLM-Wissen“ lässt sich als explizite Regeln + Programme speichern.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731520" y="2697480"/>
            <a:ext cx="52578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8"/>
          <p:cNvSpPr/>
          <p:nvPr/>
        </p:nvSpPr>
        <p:spPr>
          <a:xfrm>
            <a:off x="731520" y="2697480"/>
            <a:ext cx="82296" cy="333756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9"/>
          <p:cNvSpPr/>
          <p:nvPr/>
        </p:nvSpPr>
        <p:spPr>
          <a:xfrm>
            <a:off x="896112" y="2843784"/>
            <a:ext cx="5001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Probabilistisch (Training + Sampling)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96112" y="3172968"/>
            <a:ext cx="4965192" cy="2734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Wissen implizit in Float-Weights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Output nicht-deterministisch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Fehler schwer rückverfolgbar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Updates: (Re-)Training, Fine-tuning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63640" y="2697480"/>
            <a:ext cx="521208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2"/>
          <p:cNvSpPr/>
          <p:nvPr/>
        </p:nvSpPr>
        <p:spPr>
          <a:xfrm>
            <a:off x="6263640" y="2697480"/>
            <a:ext cx="82296" cy="333756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3"/>
          <p:cNvSpPr/>
          <p:nvPr/>
        </p:nvSpPr>
        <p:spPr>
          <a:xfrm>
            <a:off x="6428232" y="2843784"/>
            <a:ext cx="4956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Deterministisch (Grammar + Execution)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428232" y="3172968"/>
            <a:ext cx="4919472" cy="2734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Wissen explizit als Productions + Programme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Vollständige Traceability: „Welche Regel hat das erzeugt?“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Inkrementelle Updates: Regeln ergänzen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Basis für einen „omni‑LLM“ (Modularität statt Sampling)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6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deterministisch, auditierbar, inkrementell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Eigentoken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 + Programm + Referenzen = wiederverwendbare Bausteine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731520" y="12344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Formales Modell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31520" y="1691640"/>
            <a:ext cx="113385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⟨ id, P, D, R ⟩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1024128" y="25786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SHA‑512(content) · P: interpretation program (CELM‑lang) · D: optional payload · R: references (deps)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31520" y="306324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Komposition als DAG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120640" y="3611880"/>
            <a:ext cx="301752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0000"/>
            </a:solidFill>
          </a:ln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τ3: "Apfelbaum"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P=CONCAT(τ1, τ2)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914400" y="4983480"/>
            <a:ext cx="301752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766E"/>
            </a:solidFill>
          </a:ln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τ1: "Apfel"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D="Apfel"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8229600" y="4983480"/>
            <a:ext cx="3017520" cy="685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766E"/>
            </a:solidFill>
          </a:ln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τ2: "baum"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D="baum"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3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Eigentoken = Programm + Daten + Referenzen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Induction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Lernen aus Storage-Workloads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31520" y="1874520"/>
            <a:ext cx="233172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  <a:effectLst>
            <a:outerShdw blurRad="31750" dist="1524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6"/>
          <p:cNvSpPr/>
          <p:nvPr/>
        </p:nvSpPr>
        <p:spPr>
          <a:xfrm>
            <a:off x="731520" y="196596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CDC-Seeding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3063240" y="2308860"/>
            <a:ext cx="32004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8"/>
          <p:cNvSpPr/>
          <p:nvPr/>
        </p:nvSpPr>
        <p:spPr>
          <a:xfrm>
            <a:off x="3383280" y="1874520"/>
            <a:ext cx="23317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1750" dist="1524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9"/>
          <p:cNvSpPr/>
          <p:nvPr/>
        </p:nvSpPr>
        <p:spPr>
          <a:xfrm>
            <a:off x="3383280" y="196596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Ähnlichkeit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Mining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715000" y="2308860"/>
            <a:ext cx="32004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1"/>
          <p:cNvSpPr/>
          <p:nvPr/>
        </p:nvSpPr>
        <p:spPr>
          <a:xfrm>
            <a:off x="6035040" y="1874520"/>
            <a:ext cx="23317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1750" dist="1524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Text 12"/>
          <p:cNvSpPr/>
          <p:nvPr/>
        </p:nvSpPr>
        <p:spPr>
          <a:xfrm>
            <a:off x="6035040" y="196596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Creation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(Token DAG)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366760" y="2308860"/>
            <a:ext cx="32004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4"/>
          <p:cNvSpPr/>
          <p:nvPr/>
        </p:nvSpPr>
        <p:spPr>
          <a:xfrm>
            <a:off x="8686800" y="1874520"/>
            <a:ext cx="233172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  <a:effectLst>
            <a:outerShdw blurRad="31750" dist="1524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5"/>
          <p:cNvSpPr/>
          <p:nvPr/>
        </p:nvSpPr>
        <p:spPr>
          <a:xfrm>
            <a:off x="8686800" y="196596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Compaction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31520" y="30632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Ergebnis: „Grammar Cookbook“ (globale Regelbasis) + seekable Range Maps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868680" y="3520440"/>
            <a:ext cx="10972800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5740" indent="-20574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Cross-object Regeln (über Datei-/Objektgrenzen hinweg)</a:t>
            </a:r>
            <a:endParaRPr lang="en-US" sz="1800" dirty="0"/>
          </a:p>
          <a:p>
            <a:pPr marL="205740" indent="-20574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Stabile Referenzen über Content Hash (SHA‑512)</a:t>
            </a:r>
            <a:endParaRPr lang="en-US" sz="1800" dirty="0"/>
          </a:p>
          <a:p>
            <a:pPr marL="205740" indent="-20574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Asynchron: Write-Latenz bleibt niedrig, Optimierung läuft im Hintergrund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19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Asynchrones Lernen: ingest fast, optimize later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Grammatical Chunking Strategien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über „Chunk boundaries“ hinausgehen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731520" y="123444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Content-Defined Chunking (FastCDC)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731520" y="1600200"/>
            <a:ext cx="56235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7"/>
          <p:cNvSpPr/>
          <p:nvPr/>
        </p:nvSpPr>
        <p:spPr>
          <a:xfrm>
            <a:off x="1005840" y="1965960"/>
            <a:ext cx="822960" cy="5029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8"/>
          <p:cNvSpPr/>
          <p:nvPr/>
        </p:nvSpPr>
        <p:spPr>
          <a:xfrm>
            <a:off x="1828800" y="1965960"/>
            <a:ext cx="1097280" cy="502920"/>
          </a:xfrm>
          <a:prstGeom prst="rect">
            <a:avLst/>
          </a:prstGeom>
          <a:solidFill>
            <a:srgbClr val="D1D5D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9"/>
          <p:cNvSpPr/>
          <p:nvPr/>
        </p:nvSpPr>
        <p:spPr>
          <a:xfrm>
            <a:off x="2926080" y="1965960"/>
            <a:ext cx="1280160" cy="5029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0"/>
          <p:cNvSpPr/>
          <p:nvPr/>
        </p:nvSpPr>
        <p:spPr>
          <a:xfrm>
            <a:off x="4206240" y="1965960"/>
            <a:ext cx="1005840" cy="502920"/>
          </a:xfrm>
          <a:prstGeom prst="rect">
            <a:avLst/>
          </a:prstGeom>
          <a:solidFill>
            <a:srgbClr val="D1D5D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1"/>
          <p:cNvSpPr/>
          <p:nvPr/>
        </p:nvSpPr>
        <p:spPr>
          <a:xfrm>
            <a:off x="5212080" y="1965960"/>
            <a:ext cx="868680" cy="5029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2"/>
          <p:cNvSpPr/>
          <p:nvPr/>
        </p:nvSpPr>
        <p:spPr>
          <a:xfrm>
            <a:off x="1005840" y="2606040"/>
            <a:ext cx="5074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hash → boundaries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= identical chunks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492240" y="1234440"/>
            <a:ext cx="5623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Grammar-aware Chunking (Eigentokens)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6492240" y="1600200"/>
            <a:ext cx="56235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5"/>
          <p:cNvSpPr/>
          <p:nvPr/>
        </p:nvSpPr>
        <p:spPr>
          <a:xfrm>
            <a:off x="6766560" y="1965960"/>
            <a:ext cx="5074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6"/>
          <p:cNvSpPr/>
          <p:nvPr/>
        </p:nvSpPr>
        <p:spPr>
          <a:xfrm>
            <a:off x="6766560" y="1965960"/>
            <a:ext cx="914400" cy="502920"/>
          </a:xfrm>
          <a:prstGeom prst="rect">
            <a:avLst/>
          </a:prstGeom>
          <a:solidFill>
            <a:srgbClr val="E0F2FE"/>
          </a:solidFill>
          <a:ln>
            <a:solidFill>
              <a:srgbClr val="E5E7E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τA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7680960" y="1965960"/>
            <a:ext cx="1554480" cy="502920"/>
          </a:xfrm>
          <a:prstGeom prst="rect">
            <a:avLst/>
          </a:prstGeom>
          <a:solidFill>
            <a:srgbClr val="ECFDF5"/>
          </a:solidFill>
          <a:ln>
            <a:solidFill>
              <a:srgbClr val="E5E7E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τB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9235440" y="1965960"/>
            <a:ext cx="822960" cy="502920"/>
          </a:xfrm>
          <a:prstGeom prst="rect">
            <a:avLst/>
          </a:prstGeom>
          <a:solidFill>
            <a:srgbClr val="FFF7ED"/>
          </a:solidFill>
          <a:ln>
            <a:solidFill>
              <a:srgbClr val="E5E7E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τC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10058400" y="1965960"/>
            <a:ext cx="1783080" cy="502920"/>
          </a:xfrm>
          <a:prstGeom prst="rect">
            <a:avLst/>
          </a:prstGeom>
          <a:solidFill>
            <a:srgbClr val="FCE7F3"/>
          </a:solidFill>
          <a:ln>
            <a:solidFill>
              <a:srgbClr val="E5E7E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6766560" y="2606040"/>
            <a:ext cx="5074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= patterns (variable length)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= shared rules + near-duplicate factoring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731520" y="4160520"/>
            <a:ext cx="11384280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2"/>
          <p:cNvSpPr/>
          <p:nvPr/>
        </p:nvSpPr>
        <p:spPr>
          <a:xfrm>
            <a:off x="960120" y="431596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960120" y="4663440"/>
            <a:ext cx="10972800" cy="1187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Grammar-Regeln können Redundanz über Objektgrenzen und mit kleinen Variationen fassen.</a:t>
            </a:r>
            <a:endParaRPr lang="en-US" sz="1600" dirty="0"/>
          </a:p>
          <a:p>
            <a:pPr marL="182880" indent="-18288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sind gleichzeitig Storage-Einheiten und „Programmbausteine“ für Compilation.</a:t>
            </a:r>
            <a:endParaRPr lang="en-US" sz="1600" dirty="0"/>
          </a:p>
          <a:p>
            <a:pPr marL="182880" indent="-18288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Reads bleiben möglich: Range→Token Map + VM-Rekonstruktion.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5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vs Grammar-aware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Layout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SHA‑512 Index + Range Semantik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731520" y="1234440"/>
            <a:ext cx="5623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B+-Forest Index (content-addressable)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2514600" y="2057400"/>
            <a:ext cx="1143000" cy="411480"/>
          </a:xfrm>
          <a:prstGeom prst="roundRect">
            <a:avLst/>
          </a:prstGeom>
          <a:solidFill>
            <a:srgbClr val="F8FAFC"/>
          </a:solidFill>
          <a:ln>
            <a:solidFill>
              <a:srgbClr val="E5E7E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051560" y="2788920"/>
            <a:ext cx="1143000" cy="411480"/>
          </a:xfrm>
          <a:prstGeom prst="roundRect">
            <a:avLst/>
          </a:prstGeom>
          <a:solidFill>
            <a:srgbClr val="F8FAFC"/>
          </a:solidFill>
          <a:ln>
            <a:solidFill>
              <a:srgbClr val="E5E7E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2606040" y="2788920"/>
            <a:ext cx="1143000" cy="411480"/>
          </a:xfrm>
          <a:prstGeom prst="roundRect">
            <a:avLst/>
          </a:prstGeom>
          <a:solidFill>
            <a:srgbClr val="F8FAFC"/>
          </a:solidFill>
          <a:ln>
            <a:solidFill>
              <a:srgbClr val="E5E7E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160520" y="2788920"/>
            <a:ext cx="1143000" cy="411480"/>
          </a:xfrm>
          <a:prstGeom prst="roundRect">
            <a:avLst/>
          </a:prstGeom>
          <a:solidFill>
            <a:srgbClr val="F8FAFC"/>
          </a:solidFill>
          <a:ln>
            <a:solidFill>
              <a:srgbClr val="E5E7E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02920" y="3520440"/>
            <a:ext cx="1143000" cy="411480"/>
          </a:xfrm>
          <a:prstGeom prst="roundRect">
            <a:avLst/>
          </a:prstGeom>
          <a:solidFill>
            <a:srgbClr val="F8FAFC"/>
          </a:solidFill>
          <a:ln>
            <a:solidFill>
              <a:srgbClr val="E5E7E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783080" y="3520440"/>
            <a:ext cx="1143000" cy="411480"/>
          </a:xfrm>
          <a:prstGeom prst="roundRect">
            <a:avLst/>
          </a:prstGeom>
          <a:solidFill>
            <a:srgbClr val="F8FAFC"/>
          </a:solidFill>
          <a:ln>
            <a:solidFill>
              <a:srgbClr val="E5E7E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3063240" y="3520440"/>
            <a:ext cx="1143000" cy="411480"/>
          </a:xfrm>
          <a:prstGeom prst="roundRect">
            <a:avLst/>
          </a:prstGeom>
          <a:solidFill>
            <a:srgbClr val="F8FAFC"/>
          </a:solidFill>
          <a:ln>
            <a:solidFill>
              <a:srgbClr val="E5E7E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B1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343400" y="3520440"/>
            <a:ext cx="1143000" cy="411480"/>
          </a:xfrm>
          <a:prstGeom prst="roundRect">
            <a:avLst/>
          </a:prstGeom>
          <a:solidFill>
            <a:srgbClr val="F8FAFC"/>
          </a:solidFill>
          <a:ln>
            <a:solidFill>
              <a:srgbClr val="E5E7EB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C1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3611880" y="4069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= (P, D, R)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usage stats / hints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492240" y="1234440"/>
            <a:ext cx="5623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Range / Seekable Reconstruction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812280" y="19202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/object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Range: bytes=...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Range→Token Map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VM reconstruct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812280" y="3246120"/>
            <a:ext cx="5029200" cy="82296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</p:spPr>
        <p:txBody>
          <a:bodyPr wrap="square" lIns="2286" tIns="2540" rIns="2540" bIns="1524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SLO-Ziel: P95 Read Latency ≤ +15%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(vs. uncompressed baseline)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812280" y="42519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Wichtig: Token-Größe &amp; Mapping-Heuristiken für Hot-Ranges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0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+ Range Reads: „seekable compression“ auf Tokens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Compilation Path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CELM-lang → deterministische Modellbausteine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731520" y="1234440"/>
            <a:ext cx="11338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Grammar Cookbook zum ELM (Eigentoken Language Model)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31520" y="1965960"/>
            <a:ext cx="2514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7"/>
          <p:cNvSpPr/>
          <p:nvPr/>
        </p:nvSpPr>
        <p:spPr>
          <a:xfrm>
            <a:off x="731520" y="2075688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(id,P,D,R)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246120" y="2354580"/>
            <a:ext cx="36576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9"/>
          <p:cNvSpPr/>
          <p:nvPr/>
        </p:nvSpPr>
        <p:spPr>
          <a:xfrm>
            <a:off x="3611880" y="1965960"/>
            <a:ext cx="25146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0"/>
          <p:cNvSpPr/>
          <p:nvPr/>
        </p:nvSpPr>
        <p:spPr>
          <a:xfrm>
            <a:off x="3611880" y="2075688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CELM-lang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execution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26480" y="2354580"/>
            <a:ext cx="36576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2"/>
          <p:cNvSpPr/>
          <p:nvPr/>
        </p:nvSpPr>
        <p:spPr>
          <a:xfrm>
            <a:off x="6492240" y="1965960"/>
            <a:ext cx="2514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Text 13"/>
          <p:cNvSpPr/>
          <p:nvPr/>
        </p:nvSpPr>
        <p:spPr>
          <a:xfrm>
            <a:off x="6492240" y="2075688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graph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(templates)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9006840" y="2354580"/>
            <a:ext cx="36576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5"/>
          <p:cNvSpPr/>
          <p:nvPr/>
        </p:nvSpPr>
        <p:spPr>
          <a:xfrm>
            <a:off x="9372600" y="1965960"/>
            <a:ext cx="25146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Text 16"/>
          <p:cNvSpPr/>
          <p:nvPr/>
        </p:nvSpPr>
        <p:spPr>
          <a:xfrm>
            <a:off x="9372600" y="2075688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 artifact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(weights/ops)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31520" y="3063240"/>
            <a:ext cx="55778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Shape 18"/>
          <p:cNvSpPr/>
          <p:nvPr/>
        </p:nvSpPr>
        <p:spPr>
          <a:xfrm>
            <a:off x="731520" y="3063240"/>
            <a:ext cx="82296" cy="292608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19"/>
          <p:cNvSpPr/>
          <p:nvPr/>
        </p:nvSpPr>
        <p:spPr>
          <a:xfrm>
            <a:off x="896112" y="3209544"/>
            <a:ext cx="5321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wird „kompiliert“?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896112" y="3538728"/>
            <a:ext cx="5285232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deterministische Ausführungslogik (Module)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explizite Rules/Productions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optionale „neural components“ als deterministische Initialisierung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reproduzierbare Artefakte + Traceability bis zur Quelle.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46520" y="3063240"/>
            <a:ext cx="49834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Shape 22"/>
          <p:cNvSpPr/>
          <p:nvPr/>
        </p:nvSpPr>
        <p:spPr>
          <a:xfrm>
            <a:off x="6446520" y="3063240"/>
            <a:ext cx="82296" cy="2926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3"/>
          <p:cNvSpPr/>
          <p:nvPr/>
        </p:nvSpPr>
        <p:spPr>
          <a:xfrm>
            <a:off x="6611112" y="3209544"/>
            <a:ext cx="4727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Comdare?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611112" y="3538728"/>
            <a:ext cx="4690872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zentrale Tool/Product Stores (SHA‑512)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Run/Report Layout + Benchmark Profiles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Delivery-Signale (binary/container refresh)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Basis für Compare-Benchmark (lokal/remote)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6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Compiler-as-Database: Grammatik + Execution + Artifacts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Comdare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Referenz-Implementierung (DB-Kernel) + Gap Analyse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Comdare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731520" y="12344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Comdare heute schon liefert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68680" y="1691640"/>
            <a:ext cx="109728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5740" indent="-20574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Modularer „-all“ Baukasten (foundation/network/storage/crypto/licensing/…)</a:t>
            </a:r>
            <a:endParaRPr lang="en-US" sz="1800" dirty="0"/>
          </a:p>
          <a:p>
            <a:pPr marL="205740" indent="-20574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Hash-indexed Stores (Tools/Products) als Basis für deterministische Builds</a:t>
            </a:r>
            <a:endParaRPr lang="en-US" sz="1800" dirty="0"/>
          </a:p>
          <a:p>
            <a:pPr marL="205740" indent="-20574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iSCSI/Cluster-Integration + ServiceRegistry/AM-Denke (maschinenzentriert)</a:t>
            </a:r>
            <a:endParaRPr lang="en-US" sz="1800" dirty="0"/>
          </a:p>
          <a:p>
            <a:pPr marL="205740" indent="-20574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RBMM/Phasenvertrag: run_id, status.json, Marker, Reports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731520" y="3611880"/>
            <a:ext cx="113842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8"/>
          <p:cNvSpPr/>
          <p:nvPr/>
        </p:nvSpPr>
        <p:spPr>
          <a:xfrm>
            <a:off x="960120" y="37673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offene Gaps (für Phase 3+)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960120" y="4160520"/>
            <a:ext cx="10972800" cy="142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2880" indent="-18288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BuildUtilities C++ Interpreter: Loader, ABI-Guards, sha512 verify, dependency graph</a:t>
            </a:r>
            <a:endParaRPr lang="en-US" sz="1600" dirty="0"/>
          </a:p>
          <a:p>
            <a:pPr marL="182880" indent="-18288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Pipeline: build → cache → register/upload → interpreter_ready</a:t>
            </a:r>
            <a:endParaRPr lang="en-US" sz="1600" dirty="0"/>
          </a:p>
          <a:p>
            <a:pPr marL="182880" indent="-18288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Compare-Benchmark: compatibilityCheck + AM writeback (profiles)</a:t>
            </a:r>
            <a:endParaRPr lang="en-US" sz="1600" dirty="0"/>
          </a:p>
          <a:p>
            <a:pPr marL="182880" indent="-18288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Scheduler/Hardware: detection, affinity, framework gating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1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Comdare = Infrastruktur, die Eigentokens „praktisch“ macht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Phasenmodell (0–5)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→ Validate → Benchmark → Compile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Phasen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731520" y="123444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Vertrag: jede Phase schreibt status.json + Marker + Reports in den Run-Layout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31520" y="1874520"/>
            <a:ext cx="1783080" cy="91440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5E7EB"/>
            </a:solidFill>
            <a:prstDash val="solid"/>
          </a:ln>
          <a:effectLst>
            <a:outerShdw blurRad="3175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7"/>
          <p:cNvSpPr/>
          <p:nvPr/>
        </p:nvSpPr>
        <p:spPr>
          <a:xfrm>
            <a:off x="841248" y="1965960"/>
            <a:ext cx="1563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41248" y="2185416"/>
            <a:ext cx="1563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41248" y="2459736"/>
            <a:ext cx="15636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toolchain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platform detect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615184" y="1874520"/>
            <a:ext cx="1783080" cy="9144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3175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1"/>
          <p:cNvSpPr/>
          <p:nvPr/>
        </p:nvSpPr>
        <p:spPr>
          <a:xfrm>
            <a:off x="2724912" y="1965960"/>
            <a:ext cx="1563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2724912" y="2185416"/>
            <a:ext cx="1563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2724912" y="2459736"/>
            <a:ext cx="15636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+ build tools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(GCC/Clang/CMake)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498848" y="1874520"/>
            <a:ext cx="1783080" cy="9144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5E7EB"/>
            </a:solidFill>
            <a:prstDash val="solid"/>
          </a:ln>
          <a:effectLst>
            <a:outerShdw blurRad="3175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5"/>
          <p:cNvSpPr/>
          <p:nvPr/>
        </p:nvSpPr>
        <p:spPr>
          <a:xfrm>
            <a:off x="4608576" y="1965960"/>
            <a:ext cx="1563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608576" y="2185416"/>
            <a:ext cx="1563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4608576" y="2459736"/>
            <a:ext cx="15636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modules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wrappers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382512" y="1874520"/>
            <a:ext cx="1783080" cy="914400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  <a:effectLst>
            <a:outerShdw blurRad="3175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Text 19"/>
          <p:cNvSpPr/>
          <p:nvPr/>
        </p:nvSpPr>
        <p:spPr>
          <a:xfrm>
            <a:off x="6492240" y="1965960"/>
            <a:ext cx="1563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6492240" y="2185416"/>
            <a:ext cx="1563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Interpreter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492240" y="2459736"/>
            <a:ext cx="15636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interpreter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plugins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266176" y="1874520"/>
            <a:ext cx="1783080" cy="91440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E5E7EB"/>
            </a:solidFill>
            <a:prstDash val="solid"/>
          </a:ln>
          <a:effectLst>
            <a:outerShdw blurRad="3175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Text 23"/>
          <p:cNvSpPr/>
          <p:nvPr/>
        </p:nvSpPr>
        <p:spPr>
          <a:xfrm>
            <a:off x="8375904" y="1965960"/>
            <a:ext cx="1563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8375904" y="2185416"/>
            <a:ext cx="1563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Acceleration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8375904" y="2459736"/>
            <a:ext cx="15636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GPU/FPGA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scheduling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10149840" y="1874520"/>
            <a:ext cx="178308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  <a:effectLst>
            <a:outerShdw blurRad="3175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" name="Text 27"/>
          <p:cNvSpPr/>
          <p:nvPr/>
        </p:nvSpPr>
        <p:spPr>
          <a:xfrm>
            <a:off x="10259568" y="1965960"/>
            <a:ext cx="1563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10259568" y="2185416"/>
            <a:ext cx="1563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10259568" y="2459736"/>
            <a:ext cx="15636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compare_benchmark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AM writeback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731520" y="3108960"/>
            <a:ext cx="1138428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Text 31"/>
          <p:cNvSpPr/>
          <p:nvPr/>
        </p:nvSpPr>
        <p:spPr>
          <a:xfrm>
            <a:off x="960120" y="327355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die Phasen wichtig sind (für Eigentokens/Comdare)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960120" y="3703320"/>
            <a:ext cx="10972800" cy="13525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Determinismus: gleiche Inputs → gleiche Artefakte (Hashes) und Reports.</a:t>
            </a:r>
            <a:endParaRPr lang="en-US" sz="1500" dirty="0"/>
          </a:p>
          <a:p>
            <a:pPr marL="171450" indent="-17145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Vergleichbarkeit: compare_benchmark kann lokal/remote vergleichen, wenn compatibilityCheck passt.</a:t>
            </a:r>
            <a:endParaRPr lang="en-US" sz="1500" dirty="0"/>
          </a:p>
          <a:p>
            <a:pPr marL="171450" indent="-17145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Sicherheit: Tools/Products werden sha512-verifiziert geladen (fail-closed).</a:t>
            </a:r>
            <a:endParaRPr lang="en-US" sz="1500" dirty="0"/>
          </a:p>
          <a:p>
            <a:pPr marL="171450" indent="-17145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4/5 koppeln Hardware-Erkennung (PlatformDetection) mit Scheduling/Auto-Benchmark.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Text 34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Phasenvertrag als „ICD“ für alle Repos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Run/Report Layout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Validation &amp; Benchmark reproduzierbar werden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31520" y="1234440"/>
            <a:ext cx="11384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6"/>
          <p:cNvSpPr/>
          <p:nvPr/>
        </p:nvSpPr>
        <p:spPr>
          <a:xfrm>
            <a:off x="960120" y="138988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Layout (Beispiel)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60120" y="1783080"/>
            <a:ext cx="54406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&lt;cache&gt;/runs/&lt;run_id&gt;/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phases/phase_3/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status.json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done.marker | failed.marker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log.ndjson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phase_3_validation.json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reports/cross_compile_status.json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artifacts/ (optional links to tool/product store)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6629400" y="17830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status.json (minimal)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629400" y="2103120"/>
            <a:ext cx="5440680" cy="2514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0"/>
          <p:cNvSpPr/>
          <p:nvPr/>
        </p:nvSpPr>
        <p:spPr>
          <a:xfrm>
            <a:off x="6812280" y="2286000"/>
            <a:ext cx="50749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"phase": 3,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"mode": "managed",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"run_id": "...",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"signals": {"interpreter_ready": false},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"digest": {"sha512": "..."},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"exit_code": 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960120" y="4800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Nutzen: Phase-status ist maschinenlesbar, vergleichbar und kann in AM-DB persistiert werden.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3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Run-Layout = Contract zwischen BuildSystem, ValidationSystem und AM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ActiveMachinery (AM)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Maschinenzentrierte Sicht: Gruppen, Rechte, Stats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754880" y="1691640"/>
            <a:ext cx="26974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6"/>
          <p:cNvSpPr/>
          <p:nvPr/>
        </p:nvSpPr>
        <p:spPr>
          <a:xfrm>
            <a:off x="4754880" y="1810512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ServiceRegistry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/v1/version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/v1/nodes/{id}/stats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14400" y="2834640"/>
            <a:ext cx="2377440" cy="1005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8"/>
          <p:cNvSpPr/>
          <p:nvPr/>
        </p:nvSpPr>
        <p:spPr>
          <a:xfrm>
            <a:off x="914400" y="2980944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80760" y="2514600"/>
            <a:ext cx="0" cy="32004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0"/>
          <p:cNvSpPr/>
          <p:nvPr/>
        </p:nvSpPr>
        <p:spPr>
          <a:xfrm>
            <a:off x="3657600" y="2834640"/>
            <a:ext cx="2377440" cy="100584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1"/>
          <p:cNvSpPr/>
          <p:nvPr/>
        </p:nvSpPr>
        <p:spPr>
          <a:xfrm>
            <a:off x="3657600" y="2980944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B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080760" y="2514600"/>
            <a:ext cx="0" cy="32004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3"/>
          <p:cNvSpPr/>
          <p:nvPr/>
        </p:nvSpPr>
        <p:spPr>
          <a:xfrm>
            <a:off x="6400800" y="2834640"/>
            <a:ext cx="2377440" cy="1005840"/>
          </a:xfrm>
          <a:prstGeom prst="roundRect">
            <a:avLst/>
          </a:prstGeom>
          <a:solidFill>
            <a:srgbClr val="EDE9FE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4"/>
          <p:cNvSpPr/>
          <p:nvPr/>
        </p:nvSpPr>
        <p:spPr>
          <a:xfrm>
            <a:off x="6400800" y="2980944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080760" y="2514600"/>
            <a:ext cx="1508760" cy="32004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6"/>
          <p:cNvSpPr/>
          <p:nvPr/>
        </p:nvSpPr>
        <p:spPr>
          <a:xfrm>
            <a:off x="9144000" y="2834640"/>
            <a:ext cx="2377440" cy="10058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7"/>
          <p:cNvSpPr/>
          <p:nvPr/>
        </p:nvSpPr>
        <p:spPr>
          <a:xfrm>
            <a:off x="9144000" y="2980944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080760" y="2514600"/>
            <a:ext cx="4251960" cy="32004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19"/>
          <p:cNvSpPr/>
          <p:nvPr/>
        </p:nvSpPr>
        <p:spPr>
          <a:xfrm>
            <a:off x="731520" y="4343400"/>
            <a:ext cx="534924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0"/>
          <p:cNvSpPr/>
          <p:nvPr/>
        </p:nvSpPr>
        <p:spPr>
          <a:xfrm>
            <a:off x="960120" y="449884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Tool/Product Stores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96012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&lt;root&gt;/tools/... (sha512)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&lt;root&gt;/products/&lt;branch&gt;/...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iSCSI/Objektstore backend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00800" y="4343400"/>
            <a:ext cx="57150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3"/>
          <p:cNvSpPr/>
          <p:nvPr/>
        </p:nvSpPr>
        <p:spPr>
          <a:xfrm>
            <a:off x="6629400" y="449884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vs AD (kurz)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629400" y="4800600"/>
            <a:ext cx="5303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AM: Maschinen-/Service-Gruppen, Tool/Start-Rechte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AD: Nutzerzentriert, Rollen &amp; Domains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 wird „oben drauf“ gelegt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6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ist die Hardware- und Service-Sicht; AD/Identity ist darauf aufgesetzt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wir Wirkung und Kosten messen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31520" y="132588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6"/>
          <p:cNvSpPr/>
          <p:nvPr/>
        </p:nvSpPr>
        <p:spPr>
          <a:xfrm>
            <a:off x="731520" y="1325880"/>
            <a:ext cx="82296" cy="246888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7"/>
          <p:cNvSpPr/>
          <p:nvPr/>
        </p:nvSpPr>
        <p:spPr>
          <a:xfrm>
            <a:off x="896112" y="1472184"/>
            <a:ext cx="5321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896112" y="1801368"/>
            <a:ext cx="5285232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Code-Repos (Versions/Refactoring)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Logs/Text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Mixed binary objects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Optional: Genomics (BGZF baseline)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46520" y="1325880"/>
            <a:ext cx="56235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0"/>
          <p:cNvSpPr/>
          <p:nvPr/>
        </p:nvSpPr>
        <p:spPr>
          <a:xfrm>
            <a:off x="6446520" y="1325880"/>
            <a:ext cx="82296" cy="2468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1"/>
          <p:cNvSpPr/>
          <p:nvPr/>
        </p:nvSpPr>
        <p:spPr>
          <a:xfrm>
            <a:off x="6611112" y="1472184"/>
            <a:ext cx="53675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611112" y="1801368"/>
            <a:ext cx="5330952" cy="1865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FastCDC + zstd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Fixed blocks + seekable zstd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BGZF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LSM/KV (RocksDB)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31520" y="3977640"/>
            <a:ext cx="5577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4"/>
          <p:cNvSpPr/>
          <p:nvPr/>
        </p:nvSpPr>
        <p:spPr>
          <a:xfrm>
            <a:off x="731520" y="3977640"/>
            <a:ext cx="82296" cy="214884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5"/>
          <p:cNvSpPr/>
          <p:nvPr/>
        </p:nvSpPr>
        <p:spPr>
          <a:xfrm>
            <a:off x="896112" y="4123944"/>
            <a:ext cx="5321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Metriken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896112" y="4453128"/>
            <a:ext cx="5285232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Dedup/Compression ratio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amplification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Read latency (P50/P95/P99)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Ingest throughput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Determinism checks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46520" y="3977640"/>
            <a:ext cx="56235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Shape 18"/>
          <p:cNvSpPr/>
          <p:nvPr/>
        </p:nvSpPr>
        <p:spPr>
          <a:xfrm>
            <a:off x="6446520" y="3977640"/>
            <a:ext cx="82296" cy="21488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19"/>
          <p:cNvSpPr/>
          <p:nvPr/>
        </p:nvSpPr>
        <p:spPr>
          <a:xfrm>
            <a:off x="6611112" y="4123944"/>
            <a:ext cx="53675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(Prototype)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6611112" y="4453128"/>
            <a:ext cx="5330952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+25–40% dedup vs CDC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P95 read ≤ +15%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−30% write amplification vs LSM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Reproducible artifacts (hashes)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2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+ compare_benchmark + AM profile writeback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Risiken &amp; Grenzen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schiefgehen kann (und wie wir damit umgehen)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Risiken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868680" y="1508760"/>
            <a:ext cx="10972800" cy="2026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Grammar-Induktion ist teuer (Worst-Case): Heuristiken + Async Pipeline + Limits.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Metadata-Overhead: Fallback auf Chunked Storage bei geringer Redundanz.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Deterministische Fehler: Traceability gut, aber Fehler propagieren → Validations/Gates.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 VM/Interpreter muss fail-closed + resource limits haben.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Quality: compiled ELM eher domain-spezifisch; nicht „GPT-Ersatz“.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7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Realistisch bleiben: Engineering zuerst, „omni‑LLM“ als Fernziel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bis zur Endabgabe passieren muss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731520" y="123444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(Blocker)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31520" y="1600200"/>
            <a:ext cx="113842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7"/>
          <p:cNvSpPr/>
          <p:nvPr/>
        </p:nvSpPr>
        <p:spPr>
          <a:xfrm>
            <a:off x="731520" y="1600200"/>
            <a:ext cx="82296" cy="14173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8"/>
          <p:cNvSpPr/>
          <p:nvPr/>
        </p:nvSpPr>
        <p:spPr>
          <a:xfrm>
            <a:off x="896112" y="1746504"/>
            <a:ext cx="111282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BuildUtilities C++ Interpreter + Plugin Loader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96112" y="2075688"/>
            <a:ext cx="11091672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sha512 verify + ABI guards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loader selection (toolchain + runner + AM group)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dependency graph (module init order)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interpreter_ready erst nach Smoke-Test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31520" y="324612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731520" y="3611880"/>
            <a:ext cx="557784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2"/>
          <p:cNvSpPr/>
          <p:nvPr/>
        </p:nvSpPr>
        <p:spPr>
          <a:xfrm>
            <a:off x="731520" y="3611880"/>
            <a:ext cx="82296" cy="1874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3"/>
          <p:cNvSpPr/>
          <p:nvPr/>
        </p:nvSpPr>
        <p:spPr>
          <a:xfrm>
            <a:off x="896112" y="3758184"/>
            <a:ext cx="5321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 + Hardware Gating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96112" y="4087368"/>
            <a:ext cx="5285232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PlatformDetection Capability Probe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Framework Pins (CUDA/ROCm/oneAPI/OpenCL/FPGA)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Affinity/NUMA policy per OS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537960" y="3611880"/>
            <a:ext cx="557784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6"/>
          <p:cNvSpPr/>
          <p:nvPr/>
        </p:nvSpPr>
        <p:spPr>
          <a:xfrm>
            <a:off x="6537960" y="3611880"/>
            <a:ext cx="82296" cy="187452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7"/>
          <p:cNvSpPr/>
          <p:nvPr/>
        </p:nvSpPr>
        <p:spPr>
          <a:xfrm>
            <a:off x="6702552" y="3758184"/>
            <a:ext cx="5321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Path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702552" y="4087368"/>
            <a:ext cx="5285232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CELM-lang execution in VM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compile cookbook → module graph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deterministic artifact packaging (D8)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731520" y="571500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731520" y="6053328"/>
            <a:ext cx="11384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Auto-benchmark loop + compare_benchmark + AM writeback → Grafana/Reports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2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Konkreter Fokus: Phase 3 fertig machen (Interpreter + Plugins)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ihr aus dem Zwischenstand mitnehmen könnt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749808"/>
            <a:ext cx="1965960" cy="310896"/>
          </a:xfrm>
          <a:prstGeom prst="round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548640" y="78638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31520" y="1325880"/>
            <a:ext cx="11384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6"/>
          <p:cNvSpPr/>
          <p:nvPr/>
        </p:nvSpPr>
        <p:spPr>
          <a:xfrm>
            <a:off x="960120" y="1691640"/>
            <a:ext cx="10972800" cy="2206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1460" indent="-25146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Eigentokens: Grammar-basierte Dedupe = explizite Wissensbasis.</a:t>
            </a:r>
            <a:endParaRPr lang="en-US" sz="2200" dirty="0"/>
          </a:p>
          <a:p>
            <a:pPr marL="251460" indent="-25146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Comdare: Referenz-DB für deterministische Tools/Products, Runs/Reports, Delivery.</a:t>
            </a:r>
            <a:endParaRPr lang="en-US" sz="2200" dirty="0"/>
          </a:p>
          <a:p>
            <a:pPr marL="251460" indent="-25146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Grammatical Chunking erweitert CDC: Cross-object + near-duplicates.</a:t>
            </a:r>
            <a:endParaRPr lang="en-US" sz="2200" dirty="0"/>
          </a:p>
          <a:p>
            <a:pPr marL="251460" indent="-25146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Phasenvertrag (0–5) macht Builds, Validations und Benchmarks vergleichbar.</a:t>
            </a:r>
            <a:endParaRPr lang="en-US" sz="2200" dirty="0"/>
          </a:p>
          <a:p>
            <a:pPr marL="251460" indent="-251460">
              <a:spcAft>
                <a:spcPts val="600"/>
              </a:spcAft>
              <a:buSzPct val="100000"/>
              <a:buChar char="•"/>
            </a:pPr>
            <a:r>
              <a:rPr lang="en-US" sz="2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Nächster Blocker: C++ Interpreter + Plugin Pipeline (Phase 3).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8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Danke!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548640" y="91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/ Diskussion</a:t>
            </a:r>
            <a:endParaRPr lang="en-US" sz="1100" dirty="0"/>
          </a:p>
        </p:txBody>
      </p:sp>
      <p:pic>
        <p:nvPicPr>
          <p:cNvPr id="5" name="Image 0" descr="/mnt/data/scad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09728"/>
            <a:ext cx="1234440" cy="347472"/>
          </a:xfrm>
          <a:prstGeom prst="rect">
            <a:avLst/>
          </a:prstGeom>
        </p:spPr>
      </p:pic>
      <p:pic>
        <p:nvPicPr>
          <p:cNvPr id="6" name="Image 1" descr="/mnt/data/tud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640" y="109728"/>
            <a:ext cx="1234440" cy="34747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1520" y="1508760"/>
            <a:ext cx="11384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4"/>
          <p:cNvSpPr/>
          <p:nvPr/>
        </p:nvSpPr>
        <p:spPr>
          <a:xfrm>
            <a:off x="1097280" y="18745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Diskussionspunkte (optional):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097280" y="2331720"/>
            <a:ext cx="10698480" cy="172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Datasets / Workloads sind für die Evaluation am wichtigsten?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eng sollen Framework-Pins (CUDA/ROCm/oneAPI/OpenCL/FPGA) gesetzt werden?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Compiler/ABI Kombinationen sind „must support“ für Plugins?</a:t>
            </a:r>
            <a:endParaRPr lang="en-US" sz="20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 Auto-Tuning in Phase 5 ist akzeptabel (Whitelist vs frei)?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7"/>
          <p:cNvSpPr/>
          <p:nvPr/>
        </p:nvSpPr>
        <p:spPr>
          <a:xfrm>
            <a:off x="548640" y="6583680"/>
            <a:ext cx="110944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Kontakt: Benjamin‑Elias Probst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2256</Words>
  <Application>Microsoft Office PowerPoint</Application>
  <PresentationFormat>Breitbild</PresentationFormat>
  <Paragraphs>344</Paragraphs>
  <Slides>18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Benjamin-Elias Probst</dc:creator>
  <cp:lastModifiedBy>Benjamin-Elias Probst</cp:lastModifiedBy>
  <cp:revision>1</cp:revision>
  <dcterms:created xsi:type="dcterms:W3CDTF">2026-02-21T00:38:48Z</dcterms:created>
  <dcterms:modified xsi:type="dcterms:W3CDTF">2026-02-21T08:31:16Z</dcterms:modified>
</cp:coreProperties>
</file>